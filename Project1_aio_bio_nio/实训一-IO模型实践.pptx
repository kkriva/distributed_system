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sldIdLst>
    <p:sldId id="283" r:id="rId2"/>
    <p:sldId id="288" r:id="rId3"/>
    <p:sldId id="284" r:id="rId4"/>
    <p:sldId id="287" r:id="rId5"/>
    <p:sldId id="285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-67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96686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21468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7536" y="6400800"/>
            <a:ext cx="4267200" cy="283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936" y="6400800"/>
            <a:ext cx="4978400" cy="2838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43248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49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2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14733" y="1053546"/>
            <a:ext cx="7872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4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3" y="1142984"/>
            <a:ext cx="7867667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85344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35403" y="1143000"/>
            <a:ext cx="9630997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600" y="5410200"/>
            <a:ext cx="7543851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20275" y="274638"/>
            <a:ext cx="1962125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915424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6712" y="928671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4" name="图片 3" descr="01 标准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71440"/>
            <a:ext cx="5905499" cy="9286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6712" y="928671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4" name="图片 3" descr="01 标准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71440"/>
            <a:ext cx="5905499" cy="9286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6712" y="928671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4" name="图片 3" descr="01 标准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71440"/>
            <a:ext cx="5905499" cy="9286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1600" y="6400800"/>
            <a:ext cx="42672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12000" y="6400800"/>
            <a:ext cx="49784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AA2BA88A-9062-4314-A1EC-D9C0565CE7A1}"/>
              </a:ext>
            </a:extLst>
          </p:cNvPr>
          <p:cNvSpPr txBox="1">
            <a:spLocks/>
          </p:cNvSpPr>
          <p:nvPr/>
        </p:nvSpPr>
        <p:spPr>
          <a:xfrm>
            <a:off x="1809723" y="1809742"/>
            <a:ext cx="8915399" cy="1009651"/>
          </a:xfrm>
          <a:prstGeom prst="rect">
            <a:avLst/>
          </a:prstGeom>
        </p:spPr>
        <p:txBody>
          <a:bodyPr lIns="121914" tIns="60957" rIns="121914" bIns="60957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59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实训一</a:t>
            </a:r>
            <a:endParaRPr lang="zh-CN" altLang="en-US" sz="59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="" xmlns:a16="http://schemas.microsoft.com/office/drawing/2014/main" id="{5B5E2BC1-DB2A-4504-A7BF-5DA741D3F295}"/>
              </a:ext>
            </a:extLst>
          </p:cNvPr>
          <p:cNvSpPr txBox="1">
            <a:spLocks/>
          </p:cNvSpPr>
          <p:nvPr/>
        </p:nvSpPr>
        <p:spPr>
          <a:xfrm>
            <a:off x="3381356" y="3071810"/>
            <a:ext cx="5715040" cy="762005"/>
          </a:xfrm>
          <a:prstGeom prst="rect">
            <a:avLst/>
          </a:prstGeom>
        </p:spPr>
        <p:txBody>
          <a:bodyPr lIns="121914" tIns="60957" rIns="121914" bIns="60957"/>
          <a:lstStyle/>
          <a:p>
            <a:pPr>
              <a:defRPr/>
            </a:pPr>
            <a:r>
              <a:rPr lang="en-US" sz="4400" b="1" dirty="0" smtClean="0"/>
              <a:t>Java</a:t>
            </a:r>
            <a:r>
              <a:rPr lang="zh-CN" altLang="en-US" sz="4400" b="1" dirty="0" smtClean="0"/>
              <a:t>网络</a:t>
            </a:r>
            <a:r>
              <a:rPr lang="en-US" sz="4400" b="1" dirty="0" smtClean="0"/>
              <a:t>I/O</a:t>
            </a:r>
            <a:r>
              <a:rPr lang="zh-CN" altLang="en-US" sz="4400" b="1" dirty="0" smtClean="0"/>
              <a:t>模型实践</a:t>
            </a:r>
            <a:endParaRPr lang="zh-CN" altLang="en-US" sz="4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09588" y="1214422"/>
            <a:ext cx="992988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304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课程内容和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要求（教学大纲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）</a:t>
            </a:r>
            <a:endParaRPr lang="en-US" altLang="zh-CN" sz="1600" dirty="0" smtClean="0"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lvl="0" indent="304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考核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方式</a:t>
            </a:r>
            <a:endParaRPr lang="en-US" altLang="zh-CN" sz="1600" dirty="0" smtClean="0"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lvl="0" indent="304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实验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报告格式和要求</a:t>
            </a:r>
            <a:endParaRPr lang="en-US" altLang="zh-CN" sz="1600" dirty="0" smtClean="0"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30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sz="1600" dirty="0" smtClean="0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FAE47B8-CDBF-43EE-8FBC-D3B4FB6F96FD}"/>
              </a:ext>
            </a:extLst>
          </p:cNvPr>
          <p:cNvSpPr txBox="1">
            <a:spLocks/>
          </p:cNvSpPr>
          <p:nvPr/>
        </p:nvSpPr>
        <p:spPr>
          <a:xfrm>
            <a:off x="3238484" y="1142986"/>
            <a:ext cx="5020033" cy="596589"/>
          </a:xfrm>
          <a:prstGeom prst="rect">
            <a:avLst/>
          </a:prstGeom>
        </p:spPr>
        <p:txBody>
          <a:bodyPr lIns="121914" tIns="60957" rIns="121914" bIns="60957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本章内容</a:t>
            </a:r>
            <a:endParaRPr lang="zh-CN" altLang="en-US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38150" y="1714488"/>
            <a:ext cx="992988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1.1 Java BIO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（阻塞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I/O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）的原理与实现：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Socket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通信模型、单线程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多线程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BIO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服务器开发</a:t>
            </a: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1.2 Java NIO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（非阻塞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I/O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）的核心组件：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Selector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Channel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Buffer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的工作机制，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NIO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服务器与客户端实现</a:t>
            </a: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1.3 Java AIO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（异步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I/O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）的异步回调模式：</a:t>
            </a:r>
            <a:r>
              <a:rPr lang="en-US" altLang="zh-CN" sz="1600" dirty="0" err="1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AsynchronousSocketChannel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的使用，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AIO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通信程序开发</a:t>
            </a: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1.4 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三种</a:t>
            </a:r>
            <a:r>
              <a:rPr lang="en-US" altLang="zh-CN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I/O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模型的性能对比与适用场景分析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FAE47B8-CDBF-43EE-8FBC-D3B4FB6F96FD}"/>
              </a:ext>
            </a:extLst>
          </p:cNvPr>
          <p:cNvSpPr txBox="1">
            <a:spLocks/>
          </p:cNvSpPr>
          <p:nvPr/>
        </p:nvSpPr>
        <p:spPr>
          <a:xfrm>
            <a:off x="3238484" y="1142986"/>
            <a:ext cx="5020033" cy="596589"/>
          </a:xfrm>
          <a:prstGeom prst="rect">
            <a:avLst/>
          </a:prstGeom>
        </p:spPr>
        <p:txBody>
          <a:bodyPr lIns="121914" tIns="60957" rIns="121914" bIns="60957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学习目标</a:t>
            </a:r>
            <a:endParaRPr lang="zh-CN" altLang="en-US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809588" y="2071678"/>
            <a:ext cx="8072494" cy="1152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）理解阻塞、非阻塞、异步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I/O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的核心差异；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2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）独立实现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BIO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NIO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AIO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三种通信程序，完成客户端与服务器的消息交互；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048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（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3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）能够根据业务场景选择合适的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I/O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模型，分析不同模型的性能瓶颈。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xmlns="" id="{FFAE47B8-CDBF-43EE-8FBC-D3B4FB6F96FD}"/>
              </a:ext>
            </a:extLst>
          </p:cNvPr>
          <p:cNvSpPr txBox="1">
            <a:spLocks/>
          </p:cNvSpPr>
          <p:nvPr/>
        </p:nvSpPr>
        <p:spPr>
          <a:xfrm>
            <a:off x="3238484" y="1142986"/>
            <a:ext cx="5020033" cy="596589"/>
          </a:xfrm>
          <a:prstGeom prst="rect">
            <a:avLst/>
          </a:prstGeom>
        </p:spPr>
        <p:txBody>
          <a:bodyPr lIns="121914" tIns="60957" rIns="121914" bIns="60957"/>
          <a:lstStyle/>
          <a:p>
            <a:pPr algn="ctr"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主要环节</a:t>
            </a:r>
            <a:endParaRPr lang="zh-CN" altLang="en-US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0" y="3406790"/>
            <a:ext cx="12192000" cy="1076060"/>
          </a:xfrm>
          <a:prstGeom prst="rect">
            <a:avLst/>
          </a:prstGeom>
          <a:solidFill>
            <a:srgbClr val="5855EA">
              <a:alpha val="10196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10" name="AutoShape 4"/>
          <p:cNvSpPr/>
          <p:nvPr/>
        </p:nvSpPr>
        <p:spPr>
          <a:xfrm>
            <a:off x="660400" y="3944820"/>
            <a:ext cx="10858500" cy="0"/>
          </a:xfrm>
          <a:prstGeom prst="straightConnector1">
            <a:avLst/>
          </a:prstGeom>
          <a:ln w="6350">
            <a:gradFill>
              <a:gsLst>
                <a:gs pos="0">
                  <a:srgbClr val="5855EA">
                    <a:alpha val="0"/>
                  </a:srgbClr>
                </a:gs>
                <a:gs pos="100000">
                  <a:srgbClr val="5855EA">
                    <a:alpha val="100000"/>
                  </a:srgbClr>
                </a:gs>
              </a:gsLst>
              <a:lin ang="0"/>
            </a:gradFill>
            <a:prstDash val="solid"/>
            <a:headEnd type="none"/>
            <a:tailEnd type="triangle"/>
          </a:ln>
        </p:spPr>
      </p:sp>
      <p:sp>
        <p:nvSpPr>
          <p:cNvPr id="11" name="TextBox 6"/>
          <p:cNvSpPr txBox="1"/>
          <p:nvPr/>
        </p:nvSpPr>
        <p:spPr>
          <a:xfrm>
            <a:off x="1781771" y="3650131"/>
            <a:ext cx="586504" cy="586504"/>
          </a:xfrm>
          <a:prstGeom prst="ellipse">
            <a:avLst/>
          </a:prstGeom>
          <a:gradFill>
            <a:gsLst>
              <a:gs pos="0">
                <a:srgbClr val="5855EA">
                  <a:alpha val="100000"/>
                  <a:lumMod val="60000"/>
                  <a:lumOff val="40000"/>
                </a:srgbClr>
              </a:gs>
              <a:gs pos="75000">
                <a:srgbClr val="5855EA">
                  <a:alpha val="100000"/>
                </a:srgbClr>
              </a:gs>
            </a:gsLst>
            <a:lin ang="2700000"/>
          </a:gradFill>
          <a:ln w="12700">
            <a:solidFill>
              <a:srgbClr val="FFFF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endParaRPr lang="en-US" sz="1100"/>
          </a:p>
        </p:txBody>
      </p:sp>
      <p:sp>
        <p:nvSpPr>
          <p:cNvPr id="13" name="TextBox 8"/>
          <p:cNvSpPr txBox="1"/>
          <p:nvPr/>
        </p:nvSpPr>
        <p:spPr>
          <a:xfrm>
            <a:off x="660400" y="4726191"/>
            <a:ext cx="2860864" cy="70942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strike="noStrike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实验目的与原理</a:t>
            </a:r>
            <a:endParaRPr lang="en-US" sz="1100"/>
          </a:p>
        </p:txBody>
      </p:sp>
      <p:sp>
        <p:nvSpPr>
          <p:cNvPr id="15" name="TextBox 11"/>
          <p:cNvSpPr txBox="1"/>
          <p:nvPr/>
        </p:nvSpPr>
        <p:spPr>
          <a:xfrm>
            <a:off x="4463458" y="3650131"/>
            <a:ext cx="586504" cy="586504"/>
          </a:xfrm>
          <a:prstGeom prst="ellipse">
            <a:avLst/>
          </a:prstGeom>
          <a:gradFill>
            <a:gsLst>
              <a:gs pos="0">
                <a:srgbClr val="F9B03D">
                  <a:alpha val="100000"/>
                  <a:lumMod val="60000"/>
                  <a:lumOff val="40000"/>
                </a:srgbClr>
              </a:gs>
              <a:gs pos="75000">
                <a:srgbClr val="F9B03D">
                  <a:alpha val="100000"/>
                </a:srgbClr>
              </a:gs>
            </a:gsLst>
            <a:lin ang="2700000"/>
          </a:gradFill>
          <a:ln w="12700">
            <a:solidFill>
              <a:srgbClr val="FFFF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20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lang="en-US" sz="1100"/>
          </a:p>
        </p:txBody>
      </p:sp>
      <p:sp>
        <p:nvSpPr>
          <p:cNvPr id="17" name="TextBox 13"/>
          <p:cNvSpPr txBox="1"/>
          <p:nvPr/>
        </p:nvSpPr>
        <p:spPr>
          <a:xfrm>
            <a:off x="3326278" y="2441365"/>
            <a:ext cx="2860864" cy="70942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实验环境与配置</a:t>
            </a:r>
            <a:endParaRPr lang="en-US" sz="1100" dirty="0"/>
          </a:p>
        </p:txBody>
      </p:sp>
      <p:sp>
        <p:nvSpPr>
          <p:cNvPr id="19" name="TextBox 17"/>
          <p:cNvSpPr txBox="1"/>
          <p:nvPr/>
        </p:nvSpPr>
        <p:spPr>
          <a:xfrm>
            <a:off x="7145869" y="3650131"/>
            <a:ext cx="586504" cy="586504"/>
          </a:xfrm>
          <a:prstGeom prst="ellipse">
            <a:avLst/>
          </a:prstGeom>
          <a:gradFill>
            <a:gsLst>
              <a:gs pos="0">
                <a:srgbClr val="5855EA">
                  <a:alpha val="100000"/>
                  <a:lumMod val="60000"/>
                  <a:lumOff val="40000"/>
                </a:srgbClr>
              </a:gs>
              <a:gs pos="75000">
                <a:srgbClr val="5855EA">
                  <a:alpha val="100000"/>
                </a:srgbClr>
              </a:gs>
            </a:gsLst>
            <a:lin ang="2700000"/>
          </a:gradFill>
          <a:ln w="12700">
            <a:solidFill>
              <a:srgbClr val="FFFF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lang="en-US" sz="1100"/>
          </a:p>
        </p:txBody>
      </p:sp>
      <p:sp>
        <p:nvSpPr>
          <p:cNvPr id="20" name="TextBox 19"/>
          <p:cNvSpPr txBox="1"/>
          <p:nvPr/>
        </p:nvSpPr>
        <p:spPr>
          <a:xfrm>
            <a:off x="5992156" y="4726191"/>
            <a:ext cx="2860864" cy="70942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strike="noStrike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进阶功能与测试</a:t>
            </a:r>
            <a:endParaRPr lang="en-US" sz="1100"/>
          </a:p>
        </p:txBody>
      </p:sp>
      <p:sp>
        <p:nvSpPr>
          <p:cNvPr id="21" name="TextBox 22"/>
          <p:cNvSpPr txBox="1"/>
          <p:nvPr/>
        </p:nvSpPr>
        <p:spPr>
          <a:xfrm>
            <a:off x="9795213" y="3650131"/>
            <a:ext cx="586504" cy="586504"/>
          </a:xfrm>
          <a:prstGeom prst="ellipse">
            <a:avLst/>
          </a:prstGeom>
          <a:gradFill>
            <a:gsLst>
              <a:gs pos="0">
                <a:srgbClr val="F9B03D">
                  <a:alpha val="100000"/>
                  <a:lumMod val="60000"/>
                  <a:lumOff val="40000"/>
                </a:srgbClr>
              </a:gs>
              <a:gs pos="75000">
                <a:srgbClr val="F9B03D">
                  <a:alpha val="100000"/>
                </a:srgbClr>
              </a:gs>
            </a:gsLst>
            <a:lin ang="2700000"/>
          </a:gradFill>
          <a:ln w="12700">
            <a:solidFill>
              <a:srgbClr val="FFFF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20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lang="en-US" sz="1100"/>
          </a:p>
        </p:txBody>
      </p:sp>
      <p:sp>
        <p:nvSpPr>
          <p:cNvPr id="22" name="TextBox 24"/>
          <p:cNvSpPr txBox="1"/>
          <p:nvPr/>
        </p:nvSpPr>
        <p:spPr>
          <a:xfrm>
            <a:off x="8658033" y="2441365"/>
            <a:ext cx="2860864" cy="70942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0" strike="noStrike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结果分析与总结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18409" y="3143111"/>
            <a:ext cx="6331821" cy="7694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0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实验目的与原理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918408" y="4499863"/>
            <a:ext cx="7177855" cy="121515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200" b="0" i="0" dirty="0" err="1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明确本次实验的学习目标，并深入剖析BIO、NIO、AIO三种网络I</a:t>
            </a:r>
            <a:r>
              <a:rPr lang="en-US" sz="2200" b="0" i="0" dirty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/</a:t>
            </a:r>
            <a:r>
              <a:rPr lang="en-US" sz="2200" b="0" i="0" dirty="0" err="1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O模型的核心概念与工作原理，为后续的编程实践与性能分析奠定理论基础</a:t>
            </a:r>
            <a:r>
              <a:rPr lang="en-US" sz="2200" b="0" i="0" dirty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bfb1756-a9cf-4a7c-843c-fee3c10646e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掌握理论、培养技能、提升应用能力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4302760"/>
              <a:ext cx="12192000" cy="2555240"/>
            </a:xfrm>
            <a:custGeom>
              <a:avLst/>
              <a:gdLst/>
              <a:ahLst/>
              <a:cxnLst/>
              <a:rect l="l" t="t" r="r" b="b"/>
              <a:pathLst>
                <a:path w="12192000" h="2555240">
                  <a:moveTo>
                    <a:pt x="0" y="0"/>
                  </a:moveTo>
                  <a:lnTo>
                    <a:pt x="12192000" y="0"/>
                  </a:lnTo>
                  <a:lnTo>
                    <a:pt x="12192000" y="2555240"/>
                  </a:lnTo>
                  <a:lnTo>
                    <a:pt x="0" y="2555240"/>
                  </a:lnTo>
                  <a:close/>
                </a:path>
              </a:pathLst>
            </a:custGeom>
            <a:solidFill>
              <a:srgbClr val="103D7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1057508" y="1778000"/>
              <a:ext cx="3057270" cy="4356100"/>
              <a:chOff x="439865" y="1778000"/>
              <a:chExt cx="3057270" cy="4356100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439865" y="1778000"/>
                <a:ext cx="3057270" cy="43561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736600" y="2673350"/>
                <a:ext cx="2463800" cy="45719"/>
                <a:chOff x="660400" y="2383790"/>
                <a:chExt cx="2463800" cy="45719"/>
              </a:xfrm>
            </p:grpSpPr>
            <p:sp>
              <p:nvSpPr>
                <p:cNvPr id="9" name="AutoShape 9"/>
                <p:cNvSpPr/>
                <p:nvPr/>
              </p:nvSpPr>
              <p:spPr>
                <a:xfrm>
                  <a:off x="660400" y="2383790"/>
                  <a:ext cx="749300" cy="45719"/>
                </a:xfrm>
                <a:prstGeom prst="rect">
                  <a:avLst/>
                </a:prstGeom>
                <a:solidFill>
                  <a:srgbClr val="103D7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1409700" y="2408071"/>
                  <a:ext cx="1714500" cy="8288"/>
                </a:xfrm>
                <a:prstGeom prst="line">
                  <a:avLst/>
                </a:prstGeom>
                <a:ln w="12700">
                  <a:solidFill>
                    <a:srgbClr val="4B0CA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698500" y="1881105"/>
                <a:ext cx="2540000" cy="7697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知识掌握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98500" y="2739790"/>
                <a:ext cx="2540000" cy="235279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深入理解BIO、NIO、AIO的定义、核心组件及工作流程，清晰辨析“同步/异步”与“阻塞/非阻塞”的本质区别。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18920" y="5092590"/>
                <a:ext cx="899160" cy="8840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561015" y="1778000"/>
              <a:ext cx="3057270" cy="4356100"/>
              <a:chOff x="439865" y="1778000"/>
              <a:chExt cx="3057270" cy="43561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439865" y="1778000"/>
                <a:ext cx="3057270" cy="43561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736600" y="2673350"/>
                <a:ext cx="2463800" cy="45719"/>
                <a:chOff x="660400" y="2383790"/>
                <a:chExt cx="2463800" cy="45719"/>
              </a:xfrm>
            </p:grpSpPr>
            <p:sp>
              <p:nvSpPr>
                <p:cNvPr id="17" name="AutoShape 17"/>
                <p:cNvSpPr/>
                <p:nvPr/>
              </p:nvSpPr>
              <p:spPr>
                <a:xfrm>
                  <a:off x="660400" y="2383790"/>
                  <a:ext cx="749300" cy="45719"/>
                </a:xfrm>
                <a:prstGeom prst="rect">
                  <a:avLst/>
                </a:prstGeom>
                <a:solidFill>
                  <a:srgbClr val="103D7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1409700" y="2408071"/>
                  <a:ext cx="1714500" cy="8288"/>
                </a:xfrm>
                <a:prstGeom prst="line">
                  <a:avLst/>
                </a:prstGeom>
                <a:ln w="12700">
                  <a:solidFill>
                    <a:srgbClr val="4B0CA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698500" y="1881105"/>
                <a:ext cx="2540000" cy="7697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技能培养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98500" y="2739790"/>
                <a:ext cx="2540000" cy="235279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熟练掌握Java中三种I/O模型的编程实现，能够独立开发基于BIO的Socket程序、基于NIO的Selector/Channel/Buffer程序以及基于AIO的异步Channel程序。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518920" y="5092590"/>
                <a:ext cx="899160" cy="8840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064522" y="1778000"/>
              <a:ext cx="3057270" cy="4356100"/>
              <a:chOff x="439865" y="1778000"/>
              <a:chExt cx="3057270" cy="4356100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439865" y="1778000"/>
                <a:ext cx="3057270" cy="43561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736600" y="2673350"/>
                <a:ext cx="2463800" cy="45719"/>
                <a:chOff x="660400" y="2383790"/>
                <a:chExt cx="2463800" cy="45719"/>
              </a:xfrm>
            </p:grpSpPr>
            <p:sp>
              <p:nvSpPr>
                <p:cNvPr id="25" name="AutoShape 25"/>
                <p:cNvSpPr/>
                <p:nvPr/>
              </p:nvSpPr>
              <p:spPr>
                <a:xfrm>
                  <a:off x="660400" y="2383790"/>
                  <a:ext cx="749300" cy="45719"/>
                </a:xfrm>
                <a:prstGeom prst="rect">
                  <a:avLst/>
                </a:prstGeom>
                <a:solidFill>
                  <a:srgbClr val="103D7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AutoShape 26"/>
                <p:cNvSpPr/>
                <p:nvPr/>
              </p:nvSpPr>
              <p:spPr>
                <a:xfrm>
                  <a:off x="1409700" y="2408071"/>
                  <a:ext cx="1714500" cy="8288"/>
                </a:xfrm>
                <a:prstGeom prst="line">
                  <a:avLst/>
                </a:prstGeom>
                <a:ln w="12700">
                  <a:solidFill>
                    <a:srgbClr val="4B0CA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698500" y="1881105"/>
                <a:ext cx="2540000" cy="7697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应用能力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98500" y="2739790"/>
                <a:ext cx="2540000" cy="235279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通过性能测试对比三种模型在并发场景下的表现，分析其优缺点及适用场景，为实际项目中I/O模型的选型提供科学依据。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518920" y="5092590"/>
                <a:ext cx="899160" cy="8840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实验目标与概述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3f6b8e-1c35-4ec8-a137-f4f64c05d7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4"/>
            <a:ext cx="10858501" cy="5003796"/>
            <a:chOff x="660399" y="1130304"/>
            <a:chExt cx="10858501" cy="5003796"/>
          </a:xfrm>
        </p:grpSpPr>
        <p:sp>
          <p:nvSpPr>
            <p:cNvPr id="4" name="AutoShape 4"/>
            <p:cNvSpPr/>
            <p:nvPr/>
          </p:nvSpPr>
          <p:spPr>
            <a:xfrm>
              <a:off x="1787076" y="3346423"/>
              <a:ext cx="2632524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915441" y="3346423"/>
              <a:ext cx="234359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741405" y="3346423"/>
              <a:ext cx="2650819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同步/异步与阻塞/非阻塞的维度辨析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3105239"/>
              <a:ext cx="2405752" cy="3028861"/>
              <a:chOff x="402360" y="3105239"/>
              <a:chExt cx="2405752" cy="302886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02360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同步(Synchronous)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02360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进程主动等待数据就绪并亲自完成数据读写。在同步模式下，进程会阻塞在I/O操作上，直到操作完成。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477983" y="3105239"/>
              <a:ext cx="2405752" cy="3028861"/>
              <a:chOff x="2643678" y="3105239"/>
              <a:chExt cx="2405752" cy="302886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43678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异步(Asynchronous)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43678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进程无需等待，由操作系统完成数据读写后主动通知进程。在异步模式下，进程可以执行其他任务，待I/O操作完成后再处理结果。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295566" y="3105239"/>
              <a:ext cx="2405752" cy="3028861"/>
              <a:chOff x="4884996" y="3105239"/>
              <a:chExt cx="2405752" cy="3028861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84996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阻塞(Blocking)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884996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进程等待数据时挂起，无法执行其他任务。在阻塞模式下，进程会一直等待，直到I/O操作完成或被中断。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113148" y="3105239"/>
              <a:ext cx="2405752" cy="3028861"/>
              <a:chOff x="7126314" y="3105239"/>
              <a:chExt cx="2405752" cy="302886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26314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非阻塞(Non-Blocking)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126314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进程等待数据时不挂起，可执行其他任务。在非阻塞模式下，进程发起I/O操作后会立即返回，通过轮询或其他方式检查I/O操作是否完成。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verage"/>
                <a:ea typeface="Average"/>
                <a:cs typeface="Average"/>
              </a:rPr>
              <a:t>I/O模型基本概念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a50e49d-bbdc-40ba-b05a-c932b100c48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496060"/>
            <a:ext cx="11531601" cy="4638040"/>
            <a:chOff x="660399" y="1496060"/>
            <a:chExt cx="11531601" cy="4638040"/>
          </a:xfrm>
        </p:grpSpPr>
        <p:sp>
          <p:nvSpPr>
            <p:cNvPr id="4" name="AutoShape 4"/>
            <p:cNvSpPr/>
            <p:nvPr/>
          </p:nvSpPr>
          <p:spPr>
            <a:xfrm>
              <a:off x="1401465" y="2894731"/>
              <a:ext cx="10790535" cy="0"/>
            </a:xfrm>
            <a:prstGeom prst="straightConnector1">
              <a:avLst/>
            </a:prstGeom>
            <a:ln w="1270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496060"/>
              <a:ext cx="10858500" cy="5253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最传统、最简单的I/O模型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801663" y="2587661"/>
              <a:ext cx="2961815" cy="3546439"/>
              <a:chOff x="801663" y="2221901"/>
              <a:chExt cx="2961815" cy="354643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94395" y="2221901"/>
                <a:ext cx="614141" cy="614141"/>
              </a:xfrm>
              <a:prstGeom prst="ellipse">
                <a:avLst/>
              </a:pr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01663" y="3321236"/>
                <a:ext cx="2961815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核心概念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01663" y="4041237"/>
                <a:ext cx="2961815" cy="1727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BIO（Blocking I/O）是同步且阻塞的I/O模型。当进程发起I/O请求时，若数据未就绪，进程会被挂起（阻塞），直到数据就绪并完成读写后才唤醒。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679374" y="2587661"/>
              <a:ext cx="2961815" cy="3546439"/>
              <a:chOff x="801663" y="2221901"/>
              <a:chExt cx="2961815" cy="354643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094395" y="2221901"/>
                <a:ext cx="614141" cy="614141"/>
              </a:xfrm>
              <a:prstGeom prst="ellipse">
                <a:avLst/>
              </a:pr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1663" y="3321236"/>
                <a:ext cx="2961815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工作流程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1663" y="4041237"/>
                <a:ext cx="2961815" cy="1727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服务器通过ServerSocket的accept()方法阻塞等待客户端连接；为每个客户端创建新线程；通过线程中的Socket的InputStream/OutputStream阻塞读写数据。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557085" y="2587661"/>
              <a:ext cx="2961815" cy="3546439"/>
              <a:chOff x="801663" y="2221901"/>
              <a:chExt cx="2961815" cy="354643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094395" y="2221901"/>
                <a:ext cx="614141" cy="614141"/>
              </a:xfrm>
              <a:prstGeom prst="ellipse">
                <a:avLst/>
              </a:pr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1663" y="3321236"/>
                <a:ext cx="2961815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模型特点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1663" y="4041237"/>
                <a:ext cx="2961815" cy="1727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优点是模型简单，编程难度低，适用于连接数少、交互频繁的场景（如早期单机应用）。缺点是每个客户端需独占一个线程，高并发下线程资源耗尽，性能瓶颈明显。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同步阻塞I/O (BIO)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7704408-5232-4d93-8ccf-1ced8898479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1094721" cy="5003800"/>
            <a:chOff x="660399" y="1130300"/>
            <a:chExt cx="11094721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面向事件驱动的高并发I/O模型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399" y="2283325"/>
              <a:ext cx="5578477" cy="1631951"/>
              <a:chOff x="660399" y="2283325"/>
              <a:chExt cx="5578477" cy="163195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399" y="2283325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59842" y="2283325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核心概念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59842" y="2677026"/>
                <a:ext cx="4979034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NIO（Non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-Blocking I/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O）是同步非阻塞模型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进程发起I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/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O请求后，若数据未就绪，会立即返回“未就绪”状态，进程可继续执行其他任务；若数据就绪，则由进程主动完成读写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60399" y="4502149"/>
              <a:ext cx="5721353" cy="1631951"/>
              <a:chOff x="660399" y="4502149"/>
              <a:chExt cx="5721353" cy="163195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60399" y="4502149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59842" y="4502149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核心组件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59842" y="4895850"/>
                <a:ext cx="5121910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Channel（通道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）：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支持双向读写，是NIO操作的核心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Buffer（缓冲区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）：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所有I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/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O操作都通过Buffer完成，它是数据读写的容器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Selector（选择器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）：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可同时监听多个Channel的事件，实现单线程管理多通道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423659" y="2283325"/>
              <a:ext cx="5331461" cy="1631951"/>
              <a:chOff x="6423659" y="2283325"/>
              <a:chExt cx="5331461" cy="163195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423659" y="2283325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23102" y="2283325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工作流程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023102" y="2677026"/>
                <a:ext cx="4732018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服务器启动ServerSocketChannel并绑定端口，设置为非阻塞模式；创建Selector并将ServerSocketChannel注册到其上；Selector循环调用select()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方法阻塞等待事件；遍历就绪的SelectionKey集合，处理连接、读、写等事件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423659" y="4502149"/>
              <a:ext cx="5331461" cy="1631951"/>
              <a:chOff x="6423659" y="4502149"/>
              <a:chExt cx="5331461" cy="163195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423659" y="4502149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023102" y="4502149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模型特点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023102" y="4895850"/>
                <a:ext cx="4732018" cy="12382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优点是单线程可管理多个连接，减少了线程资源消耗，适合高并发（连接数多但数据交互不频繁）场景。缺点是需手动轮询Selector事件，编程复杂度高于BIO，仍需进程主动完成数据读写。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同步非阻塞I/O (NIO)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59f3f96-f4e0-4c15-86d3-0e4762b54ae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71201" cy="4635500"/>
            <a:chOff x="660400" y="1130300"/>
            <a:chExt cx="10871201" cy="4635500"/>
          </a:xfrm>
        </p:grpSpPr>
        <p:sp>
          <p:nvSpPr>
            <p:cNvPr id="4" name="AutoShape 4"/>
            <p:cNvSpPr/>
            <p:nvPr/>
          </p:nvSpPr>
          <p:spPr>
            <a:xfrm>
              <a:off x="660400" y="1778000"/>
              <a:ext cx="10858500" cy="3987800"/>
            </a:xfrm>
            <a:prstGeom prst="plaque">
              <a:avLst>
                <a:gd name="adj" fmla="val 1798"/>
              </a:avLst>
            </a:prstGeom>
            <a:solidFill>
              <a:srgbClr val="FFFFF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3101" y="1130300"/>
              <a:ext cx="10858500" cy="5334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真正实现异步的I/O模型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796424" y="1917898"/>
              <a:ext cx="5210676" cy="1760089"/>
              <a:chOff x="660400" y="1997977"/>
              <a:chExt cx="8027258" cy="271148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103D7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核心概念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AIO（Asynchronous I/O）是异步非阻塞模型。进程发起I/O请求后，无需等待数据就绪，直接返回；操作系统会在数据就绪并完成读写后，通过回调函数或Future对象通知进程。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796424" y="3929511"/>
              <a:ext cx="5210676" cy="1760089"/>
              <a:chOff x="660400" y="1997977"/>
              <a:chExt cx="8027258" cy="2711487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103D7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核心组件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AsynchronousChannel：异步通道，如AsynchronousServerSocketChannel、AsynchronousSocketChannel。CompletionHandler：回调接口，包含操作成功和失败时的处理方法。Future：异步操作结果的占位符。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117724" y="1917898"/>
              <a:ext cx="5210676" cy="1760089"/>
              <a:chOff x="660400" y="1997977"/>
              <a:chExt cx="8027258" cy="2711487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103D7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工作流程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服务器启动AsynchronousServerSocketChannel并绑定端口；调用accept()方法异步等待连接，传入CompletionHandler；连接建立后，异步读取数据，数据读取完成后调用回调函数处理数据并发送响应。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117724" y="3929511"/>
              <a:ext cx="5210676" cy="1760089"/>
              <a:chOff x="660400" y="1997977"/>
              <a:chExt cx="8027258" cy="2711487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103D7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模型特点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优点是完全异步，进程无需轮询或主动读写，操作系统承担更多工作，适合高并发且数据处理耗时的场景。缺点是依赖操作系统底层异步I/O支持，编程复杂度最高，在连接数较少时性能优势不明显。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异步非阻塞I/O (AIO)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18409" y="3143111"/>
            <a:ext cx="6331821" cy="7694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0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实验环境与代码示例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918409" y="4499863"/>
            <a:ext cx="6331822" cy="4478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200" b="0" i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介绍本次实验所需的软硬件环境，并展示BIO、NIO、AIO三种模型的服务器端核心代码，帮助理解其具体的编程实现。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b62a093-204d-453a-bcb9-21b18b4cad2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4" name="AutoShape 4"/>
            <p:cNvSpPr/>
            <p:nvPr/>
          </p:nvSpPr>
          <p:spPr>
            <a:xfrm>
              <a:off x="660400" y="1771385"/>
              <a:ext cx="10858500" cy="4362715"/>
            </a:xfrm>
            <a:prstGeom prst="roundRect">
              <a:avLst>
                <a:gd name="adj" fmla="val 3234"/>
              </a:avLst>
            </a:prstGeom>
            <a:solidFill>
              <a:srgbClr val="103D7E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1011742" y="2025813"/>
              <a:ext cx="9929308" cy="1714337"/>
              <a:chOff x="743308" y="1755335"/>
              <a:chExt cx="9929308" cy="171433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743308" y="2037122"/>
                <a:ext cx="519062" cy="519060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rgbClr val="103D7E">
                  <a:alpha val="100000"/>
                </a:srgbClr>
              </a:solidFill>
              <a:ln w="19050">
                <a:solidFill>
                  <a:srgbClr val="103D7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79382" y="1755335"/>
                <a:ext cx="9393234" cy="64108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硬件环境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79381" y="2396418"/>
                <a:ext cx="9393234" cy="10732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CPU建议使用Intel Core i5及以上，以支持多线程测试；内存建议8GB及以上，避免高并发时内存溢出；硬盘建议有10GB以上可用空间，用于存放代码、测试日志等。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011742" y="3948060"/>
              <a:ext cx="9929308" cy="1714337"/>
              <a:chOff x="743308" y="1755335"/>
              <a:chExt cx="9929308" cy="171433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743308" y="2037122"/>
                <a:ext cx="519062" cy="519060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solidFill>
                <a:srgbClr val="103D7E">
                  <a:alpha val="100000"/>
                </a:srgbClr>
              </a:solidFill>
              <a:ln w="19050">
                <a:solidFill>
                  <a:srgbClr val="103D7E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79382" y="1755335"/>
                <a:ext cx="9393234" cy="64108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软件环境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79381" y="2396418"/>
                <a:ext cx="9393234" cy="10732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操作系统支持Windows、Linux或macOS。JDK版本建议使用JDK 8及以上，因为AIO需要JDK 7以上支持，且JDK 8可兼容Lambda表达式简化代码。开发工具推荐使用IntelliJ IDEA或Eclipse，并需配置好JDK环境。</a:t>
                </a:r>
                <a:endParaRPr lang="en-US" sz="11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60400" y="1130301"/>
              <a:ext cx="10858500" cy="64108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确保实验顺利进行的基础条件</a:t>
              </a:r>
              <a:endParaRPr lang="en-US" sz="11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实验环境配置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e4ce3d3-52a3-492d-8c2b-ceb4ece5da3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660400" y="1712686"/>
              <a:ext cx="10858500" cy="4421414"/>
            </a:xfrm>
            <a:prstGeom prst="plaque">
              <a:avLst>
                <a:gd name="adj" fmla="val 3147"/>
              </a:avLst>
            </a:prstGeom>
            <a:solidFill>
              <a:srgbClr val="FFFFF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基于传统Socket的多线程编程模型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792766" y="1847946"/>
              <a:ext cx="10611834" cy="1314354"/>
              <a:chOff x="4772025" y="1130300"/>
              <a:chExt cx="10611834" cy="131435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260993" y="1130300"/>
                <a:ext cx="10122866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启动服务器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60993" y="1600580"/>
                <a:ext cx="10122866" cy="844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创建ServerSocket并绑定端口（如8888），然后进入无限循环，不断调用accept()方法阻塞等待客户端连接。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772025" y="1130300"/>
                <a:ext cx="490538" cy="470279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305">
                    <a:moveTo>
                      <a:pt x="1301" y="747"/>
                    </a:moveTo>
                    <a:cubicBezTo>
                      <a:pt x="1292" y="743"/>
                      <a:pt x="1286" y="737"/>
                      <a:pt x="1282" y="729"/>
                    </a:cubicBezTo>
                    <a:cubicBezTo>
                      <a:pt x="1274" y="715"/>
                      <a:pt x="1272" y="700"/>
                      <a:pt x="1272" y="685"/>
                    </a:cubicBezTo>
                    <a:cubicBezTo>
                      <a:pt x="1273" y="649"/>
                      <a:pt x="1265" y="614"/>
                      <a:pt x="1264" y="579"/>
                    </a:cubicBezTo>
                    <a:cubicBezTo>
                      <a:pt x="1264" y="564"/>
                      <a:pt x="1262" y="549"/>
                      <a:pt x="1258" y="534"/>
                    </a:cubicBezTo>
                    <a:cubicBezTo>
                      <a:pt x="1247" y="496"/>
                      <a:pt x="1237" y="457"/>
                      <a:pt x="1225" y="419"/>
                    </a:cubicBezTo>
                    <a:cubicBezTo>
                      <a:pt x="1209" y="367"/>
                      <a:pt x="1188" y="317"/>
                      <a:pt x="1153" y="276"/>
                    </a:cubicBezTo>
                    <a:cubicBezTo>
                      <a:pt x="1115" y="230"/>
                      <a:pt x="1075" y="186"/>
                      <a:pt x="1028" y="150"/>
                    </a:cubicBezTo>
                    <a:cubicBezTo>
                      <a:pt x="1006" y="134"/>
                      <a:pt x="987" y="114"/>
                      <a:pt x="963" y="104"/>
                    </a:cubicBezTo>
                    <a:cubicBezTo>
                      <a:pt x="927" y="88"/>
                      <a:pt x="892" y="71"/>
                      <a:pt x="856" y="56"/>
                    </a:cubicBezTo>
                    <a:cubicBezTo>
                      <a:pt x="829" y="44"/>
                      <a:pt x="801" y="38"/>
                      <a:pt x="773" y="33"/>
                    </a:cubicBezTo>
                    <a:cubicBezTo>
                      <a:pt x="757" y="31"/>
                      <a:pt x="741" y="30"/>
                      <a:pt x="726" y="27"/>
                    </a:cubicBezTo>
                    <a:cubicBezTo>
                      <a:pt x="686" y="19"/>
                      <a:pt x="645" y="19"/>
                      <a:pt x="607" y="7"/>
                    </a:cubicBezTo>
                    <a:cubicBezTo>
                      <a:pt x="603" y="5"/>
                      <a:pt x="599" y="6"/>
                      <a:pt x="595" y="6"/>
                    </a:cubicBezTo>
                    <a:cubicBezTo>
                      <a:pt x="543" y="0"/>
                      <a:pt x="494" y="15"/>
                      <a:pt x="444" y="21"/>
                    </a:cubicBezTo>
                    <a:cubicBezTo>
                      <a:pt x="421" y="24"/>
                      <a:pt x="402" y="37"/>
                      <a:pt x="381" y="43"/>
                    </a:cubicBezTo>
                    <a:cubicBezTo>
                      <a:pt x="367" y="47"/>
                      <a:pt x="358" y="55"/>
                      <a:pt x="349" y="65"/>
                    </a:cubicBezTo>
                    <a:cubicBezTo>
                      <a:pt x="328" y="88"/>
                      <a:pt x="309" y="113"/>
                      <a:pt x="280" y="127"/>
                    </a:cubicBezTo>
                    <a:cubicBezTo>
                      <a:pt x="261" y="137"/>
                      <a:pt x="243" y="148"/>
                      <a:pt x="229" y="165"/>
                    </a:cubicBezTo>
                    <a:cubicBezTo>
                      <a:pt x="205" y="192"/>
                      <a:pt x="179" y="217"/>
                      <a:pt x="159" y="247"/>
                    </a:cubicBezTo>
                    <a:cubicBezTo>
                      <a:pt x="151" y="258"/>
                      <a:pt x="142" y="269"/>
                      <a:pt x="131" y="278"/>
                    </a:cubicBezTo>
                    <a:cubicBezTo>
                      <a:pt x="110" y="294"/>
                      <a:pt x="95" y="314"/>
                      <a:pt x="84" y="337"/>
                    </a:cubicBezTo>
                    <a:cubicBezTo>
                      <a:pt x="67" y="374"/>
                      <a:pt x="52" y="413"/>
                      <a:pt x="37" y="451"/>
                    </a:cubicBezTo>
                    <a:cubicBezTo>
                      <a:pt x="25" y="483"/>
                      <a:pt x="19" y="516"/>
                      <a:pt x="15" y="550"/>
                    </a:cubicBezTo>
                    <a:cubicBezTo>
                      <a:pt x="12" y="568"/>
                      <a:pt x="12" y="587"/>
                      <a:pt x="9" y="604"/>
                    </a:cubicBezTo>
                    <a:cubicBezTo>
                      <a:pt x="2" y="642"/>
                      <a:pt x="0" y="680"/>
                      <a:pt x="14" y="716"/>
                    </a:cubicBezTo>
                    <a:cubicBezTo>
                      <a:pt x="16" y="721"/>
                      <a:pt x="17" y="727"/>
                      <a:pt x="17" y="733"/>
                    </a:cubicBezTo>
                    <a:cubicBezTo>
                      <a:pt x="17" y="772"/>
                      <a:pt x="27" y="809"/>
                      <a:pt x="45" y="845"/>
                    </a:cubicBezTo>
                    <a:cubicBezTo>
                      <a:pt x="54" y="862"/>
                      <a:pt x="65" y="878"/>
                      <a:pt x="65" y="898"/>
                    </a:cubicBezTo>
                    <a:cubicBezTo>
                      <a:pt x="65" y="929"/>
                      <a:pt x="78" y="952"/>
                      <a:pt x="103" y="970"/>
                    </a:cubicBezTo>
                    <a:cubicBezTo>
                      <a:pt x="108" y="973"/>
                      <a:pt x="112" y="976"/>
                      <a:pt x="115" y="981"/>
                    </a:cubicBezTo>
                    <a:cubicBezTo>
                      <a:pt x="125" y="1009"/>
                      <a:pt x="143" y="1032"/>
                      <a:pt x="159" y="1056"/>
                    </a:cubicBezTo>
                    <a:cubicBezTo>
                      <a:pt x="197" y="1113"/>
                      <a:pt x="246" y="1162"/>
                      <a:pt x="304" y="1200"/>
                    </a:cubicBezTo>
                    <a:cubicBezTo>
                      <a:pt x="324" y="1213"/>
                      <a:pt x="344" y="1225"/>
                      <a:pt x="366" y="1233"/>
                    </a:cubicBezTo>
                    <a:cubicBezTo>
                      <a:pt x="389" y="1241"/>
                      <a:pt x="412" y="1248"/>
                      <a:pt x="434" y="1258"/>
                    </a:cubicBezTo>
                    <a:cubicBezTo>
                      <a:pt x="448" y="1264"/>
                      <a:pt x="462" y="1274"/>
                      <a:pt x="478" y="1276"/>
                    </a:cubicBezTo>
                    <a:cubicBezTo>
                      <a:pt x="497" y="1279"/>
                      <a:pt x="515" y="1285"/>
                      <a:pt x="534" y="1288"/>
                    </a:cubicBezTo>
                    <a:cubicBezTo>
                      <a:pt x="557" y="1293"/>
                      <a:pt x="579" y="1298"/>
                      <a:pt x="603" y="1298"/>
                    </a:cubicBezTo>
                    <a:cubicBezTo>
                      <a:pt x="621" y="1298"/>
                      <a:pt x="640" y="1295"/>
                      <a:pt x="658" y="1299"/>
                    </a:cubicBezTo>
                    <a:cubicBezTo>
                      <a:pt x="676" y="1303"/>
                      <a:pt x="693" y="1302"/>
                      <a:pt x="704" y="1303"/>
                    </a:cubicBezTo>
                    <a:cubicBezTo>
                      <a:pt x="745" y="1305"/>
                      <a:pt x="777" y="1299"/>
                      <a:pt x="810" y="1292"/>
                    </a:cubicBezTo>
                    <a:cubicBezTo>
                      <a:pt x="827" y="1288"/>
                      <a:pt x="843" y="1285"/>
                      <a:pt x="860" y="1280"/>
                    </a:cubicBezTo>
                    <a:cubicBezTo>
                      <a:pt x="888" y="1271"/>
                      <a:pt x="914" y="1257"/>
                      <a:pt x="941" y="1243"/>
                    </a:cubicBezTo>
                    <a:cubicBezTo>
                      <a:pt x="960" y="1232"/>
                      <a:pt x="981" y="1225"/>
                      <a:pt x="998" y="1210"/>
                    </a:cubicBezTo>
                    <a:cubicBezTo>
                      <a:pt x="1033" y="1177"/>
                      <a:pt x="1071" y="1147"/>
                      <a:pt x="1104" y="1112"/>
                    </a:cubicBezTo>
                    <a:cubicBezTo>
                      <a:pt x="1130" y="1085"/>
                      <a:pt x="1153" y="1055"/>
                      <a:pt x="1173" y="1024"/>
                    </a:cubicBezTo>
                    <a:cubicBezTo>
                      <a:pt x="1194" y="989"/>
                      <a:pt x="1215" y="953"/>
                      <a:pt x="1234" y="916"/>
                    </a:cubicBezTo>
                    <a:cubicBezTo>
                      <a:pt x="1250" y="888"/>
                      <a:pt x="1262" y="859"/>
                      <a:pt x="1264" y="826"/>
                    </a:cubicBezTo>
                    <a:cubicBezTo>
                      <a:pt x="1265" y="809"/>
                      <a:pt x="1272" y="803"/>
                      <a:pt x="1289" y="802"/>
                    </a:cubicBezTo>
                    <a:cubicBezTo>
                      <a:pt x="1303" y="800"/>
                      <a:pt x="1315" y="788"/>
                      <a:pt x="1318" y="771"/>
                    </a:cubicBezTo>
                    <a:cubicBezTo>
                      <a:pt x="1321" y="757"/>
                      <a:pt x="1312" y="751"/>
                      <a:pt x="1301" y="747"/>
                    </a:cubicBezTo>
                    <a:close/>
                    <a:moveTo>
                      <a:pt x="1215" y="752"/>
                    </a:moveTo>
                    <a:cubicBezTo>
                      <a:pt x="1213" y="771"/>
                      <a:pt x="1210" y="788"/>
                      <a:pt x="1201" y="804"/>
                    </a:cubicBezTo>
                    <a:cubicBezTo>
                      <a:pt x="1194" y="814"/>
                      <a:pt x="1187" y="825"/>
                      <a:pt x="1179" y="835"/>
                    </a:cubicBezTo>
                    <a:cubicBezTo>
                      <a:pt x="1174" y="840"/>
                      <a:pt x="1167" y="846"/>
                      <a:pt x="1158" y="844"/>
                    </a:cubicBezTo>
                    <a:cubicBezTo>
                      <a:pt x="1148" y="841"/>
                      <a:pt x="1148" y="853"/>
                      <a:pt x="1141" y="855"/>
                    </a:cubicBezTo>
                    <a:cubicBezTo>
                      <a:pt x="1128" y="859"/>
                      <a:pt x="1116" y="866"/>
                      <a:pt x="1103" y="868"/>
                    </a:cubicBezTo>
                    <a:cubicBezTo>
                      <a:pt x="1099" y="869"/>
                      <a:pt x="1093" y="869"/>
                      <a:pt x="1094" y="875"/>
                    </a:cubicBezTo>
                    <a:cubicBezTo>
                      <a:pt x="1096" y="880"/>
                      <a:pt x="1100" y="879"/>
                      <a:pt x="1104" y="879"/>
                    </a:cubicBezTo>
                    <a:cubicBezTo>
                      <a:pt x="1108" y="879"/>
                      <a:pt x="1113" y="879"/>
                      <a:pt x="1119" y="879"/>
                    </a:cubicBezTo>
                    <a:cubicBezTo>
                      <a:pt x="1114" y="889"/>
                      <a:pt x="1106" y="887"/>
                      <a:pt x="1101" y="892"/>
                    </a:cubicBezTo>
                    <a:cubicBezTo>
                      <a:pt x="1098" y="894"/>
                      <a:pt x="1095" y="896"/>
                      <a:pt x="1097" y="899"/>
                    </a:cubicBezTo>
                    <a:cubicBezTo>
                      <a:pt x="1098" y="902"/>
                      <a:pt x="1102" y="901"/>
                      <a:pt x="1104" y="899"/>
                    </a:cubicBezTo>
                    <a:cubicBezTo>
                      <a:pt x="1111" y="893"/>
                      <a:pt x="1114" y="895"/>
                      <a:pt x="1113" y="904"/>
                    </a:cubicBezTo>
                    <a:cubicBezTo>
                      <a:pt x="1112" y="910"/>
                      <a:pt x="1119" y="918"/>
                      <a:pt x="1105" y="921"/>
                    </a:cubicBezTo>
                    <a:cubicBezTo>
                      <a:pt x="1101" y="922"/>
                      <a:pt x="1099" y="937"/>
                      <a:pt x="1102" y="946"/>
                    </a:cubicBezTo>
                    <a:cubicBezTo>
                      <a:pt x="1108" y="961"/>
                      <a:pt x="1105" y="979"/>
                      <a:pt x="1112" y="994"/>
                    </a:cubicBezTo>
                    <a:cubicBezTo>
                      <a:pt x="1113" y="995"/>
                      <a:pt x="1112" y="997"/>
                      <a:pt x="1111" y="998"/>
                    </a:cubicBezTo>
                    <a:cubicBezTo>
                      <a:pt x="1107" y="1008"/>
                      <a:pt x="1104" y="1020"/>
                      <a:pt x="1097" y="1027"/>
                    </a:cubicBezTo>
                    <a:cubicBezTo>
                      <a:pt x="1066" y="1054"/>
                      <a:pt x="1039" y="1087"/>
                      <a:pt x="1007" y="1113"/>
                    </a:cubicBezTo>
                    <a:cubicBezTo>
                      <a:pt x="959" y="1152"/>
                      <a:pt x="905" y="1177"/>
                      <a:pt x="848" y="1198"/>
                    </a:cubicBezTo>
                    <a:cubicBezTo>
                      <a:pt x="806" y="1213"/>
                      <a:pt x="764" y="1225"/>
                      <a:pt x="719" y="1229"/>
                    </a:cubicBezTo>
                    <a:cubicBezTo>
                      <a:pt x="687" y="1232"/>
                      <a:pt x="657" y="1245"/>
                      <a:pt x="624" y="1244"/>
                    </a:cubicBezTo>
                    <a:cubicBezTo>
                      <a:pt x="607" y="1243"/>
                      <a:pt x="591" y="1241"/>
                      <a:pt x="575" y="1237"/>
                    </a:cubicBezTo>
                    <a:cubicBezTo>
                      <a:pt x="543" y="1229"/>
                      <a:pt x="510" y="1222"/>
                      <a:pt x="478" y="1212"/>
                    </a:cubicBezTo>
                    <a:cubicBezTo>
                      <a:pt x="452" y="1205"/>
                      <a:pt x="427" y="1194"/>
                      <a:pt x="403" y="1178"/>
                    </a:cubicBezTo>
                    <a:cubicBezTo>
                      <a:pt x="385" y="1165"/>
                      <a:pt x="365" y="1154"/>
                      <a:pt x="345" y="1143"/>
                    </a:cubicBezTo>
                    <a:cubicBezTo>
                      <a:pt x="315" y="1126"/>
                      <a:pt x="287" y="1106"/>
                      <a:pt x="260" y="1085"/>
                    </a:cubicBezTo>
                    <a:cubicBezTo>
                      <a:pt x="237" y="1066"/>
                      <a:pt x="214" y="1045"/>
                      <a:pt x="194" y="1023"/>
                    </a:cubicBezTo>
                    <a:cubicBezTo>
                      <a:pt x="178" y="1005"/>
                      <a:pt x="165" y="985"/>
                      <a:pt x="147" y="968"/>
                    </a:cubicBezTo>
                    <a:cubicBezTo>
                      <a:pt x="139" y="962"/>
                      <a:pt x="144" y="950"/>
                      <a:pt x="142" y="941"/>
                    </a:cubicBezTo>
                    <a:cubicBezTo>
                      <a:pt x="138" y="928"/>
                      <a:pt x="133" y="916"/>
                      <a:pt x="125" y="906"/>
                    </a:cubicBezTo>
                    <a:cubicBezTo>
                      <a:pt x="104" y="879"/>
                      <a:pt x="99" y="848"/>
                      <a:pt x="94" y="816"/>
                    </a:cubicBezTo>
                    <a:cubicBezTo>
                      <a:pt x="90" y="790"/>
                      <a:pt x="84" y="764"/>
                      <a:pt x="80" y="738"/>
                    </a:cubicBezTo>
                    <a:cubicBezTo>
                      <a:pt x="76" y="719"/>
                      <a:pt x="78" y="701"/>
                      <a:pt x="79" y="682"/>
                    </a:cubicBezTo>
                    <a:cubicBezTo>
                      <a:pt x="81" y="662"/>
                      <a:pt x="82" y="643"/>
                      <a:pt x="81" y="623"/>
                    </a:cubicBezTo>
                    <a:cubicBezTo>
                      <a:pt x="80" y="598"/>
                      <a:pt x="82" y="574"/>
                      <a:pt x="92" y="550"/>
                    </a:cubicBezTo>
                    <a:cubicBezTo>
                      <a:pt x="103" y="524"/>
                      <a:pt x="110" y="496"/>
                      <a:pt x="118" y="470"/>
                    </a:cubicBezTo>
                    <a:cubicBezTo>
                      <a:pt x="127" y="444"/>
                      <a:pt x="138" y="419"/>
                      <a:pt x="154" y="396"/>
                    </a:cubicBezTo>
                    <a:cubicBezTo>
                      <a:pt x="169" y="375"/>
                      <a:pt x="177" y="349"/>
                      <a:pt x="187" y="326"/>
                    </a:cubicBezTo>
                    <a:cubicBezTo>
                      <a:pt x="200" y="293"/>
                      <a:pt x="223" y="266"/>
                      <a:pt x="251" y="246"/>
                    </a:cubicBezTo>
                    <a:cubicBezTo>
                      <a:pt x="272" y="230"/>
                      <a:pt x="290" y="210"/>
                      <a:pt x="313" y="198"/>
                    </a:cubicBezTo>
                    <a:cubicBezTo>
                      <a:pt x="332" y="188"/>
                      <a:pt x="352" y="183"/>
                      <a:pt x="371" y="176"/>
                    </a:cubicBezTo>
                    <a:cubicBezTo>
                      <a:pt x="394" y="167"/>
                      <a:pt x="415" y="152"/>
                      <a:pt x="438" y="142"/>
                    </a:cubicBezTo>
                    <a:cubicBezTo>
                      <a:pt x="473" y="128"/>
                      <a:pt x="507" y="112"/>
                      <a:pt x="546" y="107"/>
                    </a:cubicBezTo>
                    <a:cubicBezTo>
                      <a:pt x="591" y="101"/>
                      <a:pt x="636" y="98"/>
                      <a:pt x="681" y="102"/>
                    </a:cubicBezTo>
                    <a:cubicBezTo>
                      <a:pt x="701" y="104"/>
                      <a:pt x="720" y="111"/>
                      <a:pt x="739" y="116"/>
                    </a:cubicBezTo>
                    <a:cubicBezTo>
                      <a:pt x="755" y="119"/>
                      <a:pt x="771" y="124"/>
                      <a:pt x="786" y="128"/>
                    </a:cubicBezTo>
                    <a:cubicBezTo>
                      <a:pt x="799" y="131"/>
                      <a:pt x="809" y="138"/>
                      <a:pt x="822" y="141"/>
                    </a:cubicBezTo>
                    <a:cubicBezTo>
                      <a:pt x="849" y="145"/>
                      <a:pt x="875" y="156"/>
                      <a:pt x="900" y="167"/>
                    </a:cubicBezTo>
                    <a:cubicBezTo>
                      <a:pt x="924" y="177"/>
                      <a:pt x="944" y="193"/>
                      <a:pt x="965" y="206"/>
                    </a:cubicBezTo>
                    <a:cubicBezTo>
                      <a:pt x="1010" y="233"/>
                      <a:pt x="1051" y="266"/>
                      <a:pt x="1082" y="310"/>
                    </a:cubicBezTo>
                    <a:cubicBezTo>
                      <a:pt x="1114" y="356"/>
                      <a:pt x="1145" y="403"/>
                      <a:pt x="1167" y="454"/>
                    </a:cubicBezTo>
                    <a:cubicBezTo>
                      <a:pt x="1182" y="491"/>
                      <a:pt x="1195" y="529"/>
                      <a:pt x="1202" y="569"/>
                    </a:cubicBezTo>
                    <a:cubicBezTo>
                      <a:pt x="1206" y="594"/>
                      <a:pt x="1214" y="620"/>
                      <a:pt x="1216" y="645"/>
                    </a:cubicBezTo>
                    <a:cubicBezTo>
                      <a:pt x="1218" y="681"/>
                      <a:pt x="1221" y="716"/>
                      <a:pt x="1215" y="752"/>
                    </a:cubicBezTo>
                    <a:close/>
                  </a:path>
                </a:pathLst>
              </a:cu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792766" y="3288728"/>
              <a:ext cx="10611834" cy="1314354"/>
              <a:chOff x="4772025" y="1130300"/>
              <a:chExt cx="10611834" cy="131435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260993" y="1130300"/>
                <a:ext cx="10122866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处理客户端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60993" y="1600580"/>
                <a:ext cx="10122866" cy="844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每当接收到一个客户端Socket，就创建一个新的线程来处理该客户端的读写操作。通过Socket的InputStream读取客户端数据，通过OutputStream返回Echo响应。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72025" y="1130300"/>
                <a:ext cx="490538" cy="470279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305">
                    <a:moveTo>
                      <a:pt x="1301" y="747"/>
                    </a:moveTo>
                    <a:cubicBezTo>
                      <a:pt x="1292" y="743"/>
                      <a:pt x="1286" y="737"/>
                      <a:pt x="1282" y="729"/>
                    </a:cubicBezTo>
                    <a:cubicBezTo>
                      <a:pt x="1274" y="715"/>
                      <a:pt x="1272" y="700"/>
                      <a:pt x="1272" y="685"/>
                    </a:cubicBezTo>
                    <a:cubicBezTo>
                      <a:pt x="1273" y="649"/>
                      <a:pt x="1265" y="614"/>
                      <a:pt x="1264" y="579"/>
                    </a:cubicBezTo>
                    <a:cubicBezTo>
                      <a:pt x="1264" y="564"/>
                      <a:pt x="1262" y="549"/>
                      <a:pt x="1258" y="534"/>
                    </a:cubicBezTo>
                    <a:cubicBezTo>
                      <a:pt x="1247" y="496"/>
                      <a:pt x="1237" y="457"/>
                      <a:pt x="1225" y="419"/>
                    </a:cubicBezTo>
                    <a:cubicBezTo>
                      <a:pt x="1209" y="367"/>
                      <a:pt x="1188" y="317"/>
                      <a:pt x="1153" y="276"/>
                    </a:cubicBezTo>
                    <a:cubicBezTo>
                      <a:pt x="1115" y="230"/>
                      <a:pt x="1075" y="186"/>
                      <a:pt x="1028" y="150"/>
                    </a:cubicBezTo>
                    <a:cubicBezTo>
                      <a:pt x="1006" y="134"/>
                      <a:pt x="987" y="114"/>
                      <a:pt x="963" y="104"/>
                    </a:cubicBezTo>
                    <a:cubicBezTo>
                      <a:pt x="927" y="88"/>
                      <a:pt x="892" y="71"/>
                      <a:pt x="856" y="56"/>
                    </a:cubicBezTo>
                    <a:cubicBezTo>
                      <a:pt x="829" y="44"/>
                      <a:pt x="801" y="38"/>
                      <a:pt x="773" y="33"/>
                    </a:cubicBezTo>
                    <a:cubicBezTo>
                      <a:pt x="757" y="31"/>
                      <a:pt x="741" y="30"/>
                      <a:pt x="726" y="27"/>
                    </a:cubicBezTo>
                    <a:cubicBezTo>
                      <a:pt x="686" y="19"/>
                      <a:pt x="645" y="19"/>
                      <a:pt x="607" y="7"/>
                    </a:cubicBezTo>
                    <a:cubicBezTo>
                      <a:pt x="603" y="5"/>
                      <a:pt x="599" y="6"/>
                      <a:pt x="595" y="6"/>
                    </a:cubicBezTo>
                    <a:cubicBezTo>
                      <a:pt x="543" y="0"/>
                      <a:pt x="494" y="15"/>
                      <a:pt x="444" y="21"/>
                    </a:cubicBezTo>
                    <a:cubicBezTo>
                      <a:pt x="421" y="24"/>
                      <a:pt x="402" y="37"/>
                      <a:pt x="381" y="43"/>
                    </a:cubicBezTo>
                    <a:cubicBezTo>
                      <a:pt x="367" y="47"/>
                      <a:pt x="358" y="55"/>
                      <a:pt x="349" y="65"/>
                    </a:cubicBezTo>
                    <a:cubicBezTo>
                      <a:pt x="328" y="88"/>
                      <a:pt x="309" y="113"/>
                      <a:pt x="280" y="127"/>
                    </a:cubicBezTo>
                    <a:cubicBezTo>
                      <a:pt x="261" y="137"/>
                      <a:pt x="243" y="148"/>
                      <a:pt x="229" y="165"/>
                    </a:cubicBezTo>
                    <a:cubicBezTo>
                      <a:pt x="205" y="192"/>
                      <a:pt x="179" y="217"/>
                      <a:pt x="159" y="247"/>
                    </a:cubicBezTo>
                    <a:cubicBezTo>
                      <a:pt x="151" y="258"/>
                      <a:pt x="142" y="269"/>
                      <a:pt x="131" y="278"/>
                    </a:cubicBezTo>
                    <a:cubicBezTo>
                      <a:pt x="110" y="294"/>
                      <a:pt x="95" y="314"/>
                      <a:pt x="84" y="337"/>
                    </a:cubicBezTo>
                    <a:cubicBezTo>
                      <a:pt x="67" y="374"/>
                      <a:pt x="52" y="413"/>
                      <a:pt x="37" y="451"/>
                    </a:cubicBezTo>
                    <a:cubicBezTo>
                      <a:pt x="25" y="483"/>
                      <a:pt x="19" y="516"/>
                      <a:pt x="15" y="550"/>
                    </a:cubicBezTo>
                    <a:cubicBezTo>
                      <a:pt x="12" y="568"/>
                      <a:pt x="12" y="587"/>
                      <a:pt x="9" y="604"/>
                    </a:cubicBezTo>
                    <a:cubicBezTo>
                      <a:pt x="2" y="642"/>
                      <a:pt x="0" y="680"/>
                      <a:pt x="14" y="716"/>
                    </a:cubicBezTo>
                    <a:cubicBezTo>
                      <a:pt x="16" y="721"/>
                      <a:pt x="17" y="727"/>
                      <a:pt x="17" y="733"/>
                    </a:cubicBezTo>
                    <a:cubicBezTo>
                      <a:pt x="17" y="772"/>
                      <a:pt x="27" y="809"/>
                      <a:pt x="45" y="845"/>
                    </a:cubicBezTo>
                    <a:cubicBezTo>
                      <a:pt x="54" y="862"/>
                      <a:pt x="65" y="878"/>
                      <a:pt x="65" y="898"/>
                    </a:cubicBezTo>
                    <a:cubicBezTo>
                      <a:pt x="65" y="929"/>
                      <a:pt x="78" y="952"/>
                      <a:pt x="103" y="970"/>
                    </a:cubicBezTo>
                    <a:cubicBezTo>
                      <a:pt x="108" y="973"/>
                      <a:pt x="112" y="976"/>
                      <a:pt x="115" y="981"/>
                    </a:cubicBezTo>
                    <a:cubicBezTo>
                      <a:pt x="125" y="1009"/>
                      <a:pt x="143" y="1032"/>
                      <a:pt x="159" y="1056"/>
                    </a:cubicBezTo>
                    <a:cubicBezTo>
                      <a:pt x="197" y="1113"/>
                      <a:pt x="246" y="1162"/>
                      <a:pt x="304" y="1200"/>
                    </a:cubicBezTo>
                    <a:cubicBezTo>
                      <a:pt x="324" y="1213"/>
                      <a:pt x="344" y="1225"/>
                      <a:pt x="366" y="1233"/>
                    </a:cubicBezTo>
                    <a:cubicBezTo>
                      <a:pt x="389" y="1241"/>
                      <a:pt x="412" y="1248"/>
                      <a:pt x="434" y="1258"/>
                    </a:cubicBezTo>
                    <a:cubicBezTo>
                      <a:pt x="448" y="1264"/>
                      <a:pt x="462" y="1274"/>
                      <a:pt x="478" y="1276"/>
                    </a:cubicBezTo>
                    <a:cubicBezTo>
                      <a:pt x="497" y="1279"/>
                      <a:pt x="515" y="1285"/>
                      <a:pt x="534" y="1288"/>
                    </a:cubicBezTo>
                    <a:cubicBezTo>
                      <a:pt x="557" y="1293"/>
                      <a:pt x="579" y="1298"/>
                      <a:pt x="603" y="1298"/>
                    </a:cubicBezTo>
                    <a:cubicBezTo>
                      <a:pt x="621" y="1298"/>
                      <a:pt x="640" y="1295"/>
                      <a:pt x="658" y="1299"/>
                    </a:cubicBezTo>
                    <a:cubicBezTo>
                      <a:pt x="676" y="1303"/>
                      <a:pt x="693" y="1302"/>
                      <a:pt x="704" y="1303"/>
                    </a:cubicBezTo>
                    <a:cubicBezTo>
                      <a:pt x="745" y="1305"/>
                      <a:pt x="777" y="1299"/>
                      <a:pt x="810" y="1292"/>
                    </a:cubicBezTo>
                    <a:cubicBezTo>
                      <a:pt x="827" y="1288"/>
                      <a:pt x="843" y="1285"/>
                      <a:pt x="860" y="1280"/>
                    </a:cubicBezTo>
                    <a:cubicBezTo>
                      <a:pt x="888" y="1271"/>
                      <a:pt x="914" y="1257"/>
                      <a:pt x="941" y="1243"/>
                    </a:cubicBezTo>
                    <a:cubicBezTo>
                      <a:pt x="960" y="1232"/>
                      <a:pt x="981" y="1225"/>
                      <a:pt x="998" y="1210"/>
                    </a:cubicBezTo>
                    <a:cubicBezTo>
                      <a:pt x="1033" y="1177"/>
                      <a:pt x="1071" y="1147"/>
                      <a:pt x="1104" y="1112"/>
                    </a:cubicBezTo>
                    <a:cubicBezTo>
                      <a:pt x="1130" y="1085"/>
                      <a:pt x="1153" y="1055"/>
                      <a:pt x="1173" y="1024"/>
                    </a:cubicBezTo>
                    <a:cubicBezTo>
                      <a:pt x="1194" y="989"/>
                      <a:pt x="1215" y="953"/>
                      <a:pt x="1234" y="916"/>
                    </a:cubicBezTo>
                    <a:cubicBezTo>
                      <a:pt x="1250" y="888"/>
                      <a:pt x="1262" y="859"/>
                      <a:pt x="1264" y="826"/>
                    </a:cubicBezTo>
                    <a:cubicBezTo>
                      <a:pt x="1265" y="809"/>
                      <a:pt x="1272" y="803"/>
                      <a:pt x="1289" y="802"/>
                    </a:cubicBezTo>
                    <a:cubicBezTo>
                      <a:pt x="1303" y="800"/>
                      <a:pt x="1315" y="788"/>
                      <a:pt x="1318" y="771"/>
                    </a:cubicBezTo>
                    <a:cubicBezTo>
                      <a:pt x="1321" y="757"/>
                      <a:pt x="1312" y="751"/>
                      <a:pt x="1301" y="747"/>
                    </a:cubicBezTo>
                    <a:close/>
                    <a:moveTo>
                      <a:pt x="1215" y="752"/>
                    </a:moveTo>
                    <a:cubicBezTo>
                      <a:pt x="1213" y="771"/>
                      <a:pt x="1210" y="788"/>
                      <a:pt x="1201" y="804"/>
                    </a:cubicBezTo>
                    <a:cubicBezTo>
                      <a:pt x="1194" y="814"/>
                      <a:pt x="1187" y="825"/>
                      <a:pt x="1179" y="835"/>
                    </a:cubicBezTo>
                    <a:cubicBezTo>
                      <a:pt x="1174" y="840"/>
                      <a:pt x="1167" y="846"/>
                      <a:pt x="1158" y="844"/>
                    </a:cubicBezTo>
                    <a:cubicBezTo>
                      <a:pt x="1148" y="841"/>
                      <a:pt x="1148" y="853"/>
                      <a:pt x="1141" y="855"/>
                    </a:cubicBezTo>
                    <a:cubicBezTo>
                      <a:pt x="1128" y="859"/>
                      <a:pt x="1116" y="866"/>
                      <a:pt x="1103" y="868"/>
                    </a:cubicBezTo>
                    <a:cubicBezTo>
                      <a:pt x="1099" y="869"/>
                      <a:pt x="1093" y="869"/>
                      <a:pt x="1094" y="875"/>
                    </a:cubicBezTo>
                    <a:cubicBezTo>
                      <a:pt x="1096" y="880"/>
                      <a:pt x="1100" y="879"/>
                      <a:pt x="1104" y="879"/>
                    </a:cubicBezTo>
                    <a:cubicBezTo>
                      <a:pt x="1108" y="879"/>
                      <a:pt x="1113" y="879"/>
                      <a:pt x="1119" y="879"/>
                    </a:cubicBezTo>
                    <a:cubicBezTo>
                      <a:pt x="1114" y="889"/>
                      <a:pt x="1106" y="887"/>
                      <a:pt x="1101" y="892"/>
                    </a:cubicBezTo>
                    <a:cubicBezTo>
                      <a:pt x="1098" y="894"/>
                      <a:pt x="1095" y="896"/>
                      <a:pt x="1097" y="899"/>
                    </a:cubicBezTo>
                    <a:cubicBezTo>
                      <a:pt x="1098" y="902"/>
                      <a:pt x="1102" y="901"/>
                      <a:pt x="1104" y="899"/>
                    </a:cubicBezTo>
                    <a:cubicBezTo>
                      <a:pt x="1111" y="893"/>
                      <a:pt x="1114" y="895"/>
                      <a:pt x="1113" y="904"/>
                    </a:cubicBezTo>
                    <a:cubicBezTo>
                      <a:pt x="1112" y="910"/>
                      <a:pt x="1119" y="918"/>
                      <a:pt x="1105" y="921"/>
                    </a:cubicBezTo>
                    <a:cubicBezTo>
                      <a:pt x="1101" y="922"/>
                      <a:pt x="1099" y="937"/>
                      <a:pt x="1102" y="946"/>
                    </a:cubicBezTo>
                    <a:cubicBezTo>
                      <a:pt x="1108" y="961"/>
                      <a:pt x="1105" y="979"/>
                      <a:pt x="1112" y="994"/>
                    </a:cubicBezTo>
                    <a:cubicBezTo>
                      <a:pt x="1113" y="995"/>
                      <a:pt x="1112" y="997"/>
                      <a:pt x="1111" y="998"/>
                    </a:cubicBezTo>
                    <a:cubicBezTo>
                      <a:pt x="1107" y="1008"/>
                      <a:pt x="1104" y="1020"/>
                      <a:pt x="1097" y="1027"/>
                    </a:cubicBezTo>
                    <a:cubicBezTo>
                      <a:pt x="1066" y="1054"/>
                      <a:pt x="1039" y="1087"/>
                      <a:pt x="1007" y="1113"/>
                    </a:cubicBezTo>
                    <a:cubicBezTo>
                      <a:pt x="959" y="1152"/>
                      <a:pt x="905" y="1177"/>
                      <a:pt x="848" y="1198"/>
                    </a:cubicBezTo>
                    <a:cubicBezTo>
                      <a:pt x="806" y="1213"/>
                      <a:pt x="764" y="1225"/>
                      <a:pt x="719" y="1229"/>
                    </a:cubicBezTo>
                    <a:cubicBezTo>
                      <a:pt x="687" y="1232"/>
                      <a:pt x="657" y="1245"/>
                      <a:pt x="624" y="1244"/>
                    </a:cubicBezTo>
                    <a:cubicBezTo>
                      <a:pt x="607" y="1243"/>
                      <a:pt x="591" y="1241"/>
                      <a:pt x="575" y="1237"/>
                    </a:cubicBezTo>
                    <a:cubicBezTo>
                      <a:pt x="543" y="1229"/>
                      <a:pt x="510" y="1222"/>
                      <a:pt x="478" y="1212"/>
                    </a:cubicBezTo>
                    <a:cubicBezTo>
                      <a:pt x="452" y="1205"/>
                      <a:pt x="427" y="1194"/>
                      <a:pt x="403" y="1178"/>
                    </a:cubicBezTo>
                    <a:cubicBezTo>
                      <a:pt x="385" y="1165"/>
                      <a:pt x="365" y="1154"/>
                      <a:pt x="345" y="1143"/>
                    </a:cubicBezTo>
                    <a:cubicBezTo>
                      <a:pt x="315" y="1126"/>
                      <a:pt x="287" y="1106"/>
                      <a:pt x="260" y="1085"/>
                    </a:cubicBezTo>
                    <a:cubicBezTo>
                      <a:pt x="237" y="1066"/>
                      <a:pt x="214" y="1045"/>
                      <a:pt x="194" y="1023"/>
                    </a:cubicBezTo>
                    <a:cubicBezTo>
                      <a:pt x="178" y="1005"/>
                      <a:pt x="165" y="985"/>
                      <a:pt x="147" y="968"/>
                    </a:cubicBezTo>
                    <a:cubicBezTo>
                      <a:pt x="139" y="962"/>
                      <a:pt x="144" y="950"/>
                      <a:pt x="142" y="941"/>
                    </a:cubicBezTo>
                    <a:cubicBezTo>
                      <a:pt x="138" y="928"/>
                      <a:pt x="133" y="916"/>
                      <a:pt x="125" y="906"/>
                    </a:cubicBezTo>
                    <a:cubicBezTo>
                      <a:pt x="104" y="879"/>
                      <a:pt x="99" y="848"/>
                      <a:pt x="94" y="816"/>
                    </a:cubicBezTo>
                    <a:cubicBezTo>
                      <a:pt x="90" y="790"/>
                      <a:pt x="84" y="764"/>
                      <a:pt x="80" y="738"/>
                    </a:cubicBezTo>
                    <a:cubicBezTo>
                      <a:pt x="76" y="719"/>
                      <a:pt x="78" y="701"/>
                      <a:pt x="79" y="682"/>
                    </a:cubicBezTo>
                    <a:cubicBezTo>
                      <a:pt x="81" y="662"/>
                      <a:pt x="82" y="643"/>
                      <a:pt x="81" y="623"/>
                    </a:cubicBezTo>
                    <a:cubicBezTo>
                      <a:pt x="80" y="598"/>
                      <a:pt x="82" y="574"/>
                      <a:pt x="92" y="550"/>
                    </a:cubicBezTo>
                    <a:cubicBezTo>
                      <a:pt x="103" y="524"/>
                      <a:pt x="110" y="496"/>
                      <a:pt x="118" y="470"/>
                    </a:cubicBezTo>
                    <a:cubicBezTo>
                      <a:pt x="127" y="444"/>
                      <a:pt x="138" y="419"/>
                      <a:pt x="154" y="396"/>
                    </a:cubicBezTo>
                    <a:cubicBezTo>
                      <a:pt x="169" y="375"/>
                      <a:pt x="177" y="349"/>
                      <a:pt x="187" y="326"/>
                    </a:cubicBezTo>
                    <a:cubicBezTo>
                      <a:pt x="200" y="293"/>
                      <a:pt x="223" y="266"/>
                      <a:pt x="251" y="246"/>
                    </a:cubicBezTo>
                    <a:cubicBezTo>
                      <a:pt x="272" y="230"/>
                      <a:pt x="290" y="210"/>
                      <a:pt x="313" y="198"/>
                    </a:cubicBezTo>
                    <a:cubicBezTo>
                      <a:pt x="332" y="188"/>
                      <a:pt x="352" y="183"/>
                      <a:pt x="371" y="176"/>
                    </a:cubicBezTo>
                    <a:cubicBezTo>
                      <a:pt x="394" y="167"/>
                      <a:pt x="415" y="152"/>
                      <a:pt x="438" y="142"/>
                    </a:cubicBezTo>
                    <a:cubicBezTo>
                      <a:pt x="473" y="128"/>
                      <a:pt x="507" y="112"/>
                      <a:pt x="546" y="107"/>
                    </a:cubicBezTo>
                    <a:cubicBezTo>
                      <a:pt x="591" y="101"/>
                      <a:pt x="636" y="98"/>
                      <a:pt x="681" y="102"/>
                    </a:cubicBezTo>
                    <a:cubicBezTo>
                      <a:pt x="701" y="104"/>
                      <a:pt x="720" y="111"/>
                      <a:pt x="739" y="116"/>
                    </a:cubicBezTo>
                    <a:cubicBezTo>
                      <a:pt x="755" y="119"/>
                      <a:pt x="771" y="124"/>
                      <a:pt x="786" y="128"/>
                    </a:cubicBezTo>
                    <a:cubicBezTo>
                      <a:pt x="799" y="131"/>
                      <a:pt x="809" y="138"/>
                      <a:pt x="822" y="141"/>
                    </a:cubicBezTo>
                    <a:cubicBezTo>
                      <a:pt x="849" y="145"/>
                      <a:pt x="875" y="156"/>
                      <a:pt x="900" y="167"/>
                    </a:cubicBezTo>
                    <a:cubicBezTo>
                      <a:pt x="924" y="177"/>
                      <a:pt x="944" y="193"/>
                      <a:pt x="965" y="206"/>
                    </a:cubicBezTo>
                    <a:cubicBezTo>
                      <a:pt x="1010" y="233"/>
                      <a:pt x="1051" y="266"/>
                      <a:pt x="1082" y="310"/>
                    </a:cubicBezTo>
                    <a:cubicBezTo>
                      <a:pt x="1114" y="356"/>
                      <a:pt x="1145" y="403"/>
                      <a:pt x="1167" y="454"/>
                    </a:cubicBezTo>
                    <a:cubicBezTo>
                      <a:pt x="1182" y="491"/>
                      <a:pt x="1195" y="529"/>
                      <a:pt x="1202" y="569"/>
                    </a:cubicBezTo>
                    <a:cubicBezTo>
                      <a:pt x="1206" y="594"/>
                      <a:pt x="1214" y="620"/>
                      <a:pt x="1216" y="645"/>
                    </a:cubicBezTo>
                    <a:cubicBezTo>
                      <a:pt x="1218" y="681"/>
                      <a:pt x="1221" y="716"/>
                      <a:pt x="1215" y="752"/>
                    </a:cubicBezTo>
                    <a:close/>
                  </a:path>
                </a:pathLst>
              </a:cu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92766" y="4729510"/>
              <a:ext cx="10611834" cy="1314354"/>
              <a:chOff x="4772025" y="1130300"/>
              <a:chExt cx="10611834" cy="131435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260993" y="1130300"/>
                <a:ext cx="10122866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关键代码片段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260993" y="1600580"/>
                <a:ext cx="10122866" cy="844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`while (true) { Socket clientSocket = serverSocket.accept(); new Thread(() -&gt; { try (InputStream in = clientSocket.getInputStream(); OutputStream out = clientSocket.getOutputStream()) { ... } catch (IOException e) { ... } }).start(); }`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72025" y="1130300"/>
                <a:ext cx="490538" cy="470279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305">
                    <a:moveTo>
                      <a:pt x="1301" y="747"/>
                    </a:moveTo>
                    <a:cubicBezTo>
                      <a:pt x="1292" y="743"/>
                      <a:pt x="1286" y="737"/>
                      <a:pt x="1282" y="729"/>
                    </a:cubicBezTo>
                    <a:cubicBezTo>
                      <a:pt x="1274" y="715"/>
                      <a:pt x="1272" y="700"/>
                      <a:pt x="1272" y="685"/>
                    </a:cubicBezTo>
                    <a:cubicBezTo>
                      <a:pt x="1273" y="649"/>
                      <a:pt x="1265" y="614"/>
                      <a:pt x="1264" y="579"/>
                    </a:cubicBezTo>
                    <a:cubicBezTo>
                      <a:pt x="1264" y="564"/>
                      <a:pt x="1262" y="549"/>
                      <a:pt x="1258" y="534"/>
                    </a:cubicBezTo>
                    <a:cubicBezTo>
                      <a:pt x="1247" y="496"/>
                      <a:pt x="1237" y="457"/>
                      <a:pt x="1225" y="419"/>
                    </a:cubicBezTo>
                    <a:cubicBezTo>
                      <a:pt x="1209" y="367"/>
                      <a:pt x="1188" y="317"/>
                      <a:pt x="1153" y="276"/>
                    </a:cubicBezTo>
                    <a:cubicBezTo>
                      <a:pt x="1115" y="230"/>
                      <a:pt x="1075" y="186"/>
                      <a:pt x="1028" y="150"/>
                    </a:cubicBezTo>
                    <a:cubicBezTo>
                      <a:pt x="1006" y="134"/>
                      <a:pt x="987" y="114"/>
                      <a:pt x="963" y="104"/>
                    </a:cubicBezTo>
                    <a:cubicBezTo>
                      <a:pt x="927" y="88"/>
                      <a:pt x="892" y="71"/>
                      <a:pt x="856" y="56"/>
                    </a:cubicBezTo>
                    <a:cubicBezTo>
                      <a:pt x="829" y="44"/>
                      <a:pt x="801" y="38"/>
                      <a:pt x="773" y="33"/>
                    </a:cubicBezTo>
                    <a:cubicBezTo>
                      <a:pt x="757" y="31"/>
                      <a:pt x="741" y="30"/>
                      <a:pt x="726" y="27"/>
                    </a:cubicBezTo>
                    <a:cubicBezTo>
                      <a:pt x="686" y="19"/>
                      <a:pt x="645" y="19"/>
                      <a:pt x="607" y="7"/>
                    </a:cubicBezTo>
                    <a:cubicBezTo>
                      <a:pt x="603" y="5"/>
                      <a:pt x="599" y="6"/>
                      <a:pt x="595" y="6"/>
                    </a:cubicBezTo>
                    <a:cubicBezTo>
                      <a:pt x="543" y="0"/>
                      <a:pt x="494" y="15"/>
                      <a:pt x="444" y="21"/>
                    </a:cubicBezTo>
                    <a:cubicBezTo>
                      <a:pt x="421" y="24"/>
                      <a:pt x="402" y="37"/>
                      <a:pt x="381" y="43"/>
                    </a:cubicBezTo>
                    <a:cubicBezTo>
                      <a:pt x="367" y="47"/>
                      <a:pt x="358" y="55"/>
                      <a:pt x="349" y="65"/>
                    </a:cubicBezTo>
                    <a:cubicBezTo>
                      <a:pt x="328" y="88"/>
                      <a:pt x="309" y="113"/>
                      <a:pt x="280" y="127"/>
                    </a:cubicBezTo>
                    <a:cubicBezTo>
                      <a:pt x="261" y="137"/>
                      <a:pt x="243" y="148"/>
                      <a:pt x="229" y="165"/>
                    </a:cubicBezTo>
                    <a:cubicBezTo>
                      <a:pt x="205" y="192"/>
                      <a:pt x="179" y="217"/>
                      <a:pt x="159" y="247"/>
                    </a:cubicBezTo>
                    <a:cubicBezTo>
                      <a:pt x="151" y="258"/>
                      <a:pt x="142" y="269"/>
                      <a:pt x="131" y="278"/>
                    </a:cubicBezTo>
                    <a:cubicBezTo>
                      <a:pt x="110" y="294"/>
                      <a:pt x="95" y="314"/>
                      <a:pt x="84" y="337"/>
                    </a:cubicBezTo>
                    <a:cubicBezTo>
                      <a:pt x="67" y="374"/>
                      <a:pt x="52" y="413"/>
                      <a:pt x="37" y="451"/>
                    </a:cubicBezTo>
                    <a:cubicBezTo>
                      <a:pt x="25" y="483"/>
                      <a:pt x="19" y="516"/>
                      <a:pt x="15" y="550"/>
                    </a:cubicBezTo>
                    <a:cubicBezTo>
                      <a:pt x="12" y="568"/>
                      <a:pt x="12" y="587"/>
                      <a:pt x="9" y="604"/>
                    </a:cubicBezTo>
                    <a:cubicBezTo>
                      <a:pt x="2" y="642"/>
                      <a:pt x="0" y="680"/>
                      <a:pt x="14" y="716"/>
                    </a:cubicBezTo>
                    <a:cubicBezTo>
                      <a:pt x="16" y="721"/>
                      <a:pt x="17" y="727"/>
                      <a:pt x="17" y="733"/>
                    </a:cubicBezTo>
                    <a:cubicBezTo>
                      <a:pt x="17" y="772"/>
                      <a:pt x="27" y="809"/>
                      <a:pt x="45" y="845"/>
                    </a:cubicBezTo>
                    <a:cubicBezTo>
                      <a:pt x="54" y="862"/>
                      <a:pt x="65" y="878"/>
                      <a:pt x="65" y="898"/>
                    </a:cubicBezTo>
                    <a:cubicBezTo>
                      <a:pt x="65" y="929"/>
                      <a:pt x="78" y="952"/>
                      <a:pt x="103" y="970"/>
                    </a:cubicBezTo>
                    <a:cubicBezTo>
                      <a:pt x="108" y="973"/>
                      <a:pt x="112" y="976"/>
                      <a:pt x="115" y="981"/>
                    </a:cubicBezTo>
                    <a:cubicBezTo>
                      <a:pt x="125" y="1009"/>
                      <a:pt x="143" y="1032"/>
                      <a:pt x="159" y="1056"/>
                    </a:cubicBezTo>
                    <a:cubicBezTo>
                      <a:pt x="197" y="1113"/>
                      <a:pt x="246" y="1162"/>
                      <a:pt x="304" y="1200"/>
                    </a:cubicBezTo>
                    <a:cubicBezTo>
                      <a:pt x="324" y="1213"/>
                      <a:pt x="344" y="1225"/>
                      <a:pt x="366" y="1233"/>
                    </a:cubicBezTo>
                    <a:cubicBezTo>
                      <a:pt x="389" y="1241"/>
                      <a:pt x="412" y="1248"/>
                      <a:pt x="434" y="1258"/>
                    </a:cubicBezTo>
                    <a:cubicBezTo>
                      <a:pt x="448" y="1264"/>
                      <a:pt x="462" y="1274"/>
                      <a:pt x="478" y="1276"/>
                    </a:cubicBezTo>
                    <a:cubicBezTo>
                      <a:pt x="497" y="1279"/>
                      <a:pt x="515" y="1285"/>
                      <a:pt x="534" y="1288"/>
                    </a:cubicBezTo>
                    <a:cubicBezTo>
                      <a:pt x="557" y="1293"/>
                      <a:pt x="579" y="1298"/>
                      <a:pt x="603" y="1298"/>
                    </a:cubicBezTo>
                    <a:cubicBezTo>
                      <a:pt x="621" y="1298"/>
                      <a:pt x="640" y="1295"/>
                      <a:pt x="658" y="1299"/>
                    </a:cubicBezTo>
                    <a:cubicBezTo>
                      <a:pt x="676" y="1303"/>
                      <a:pt x="693" y="1302"/>
                      <a:pt x="704" y="1303"/>
                    </a:cubicBezTo>
                    <a:cubicBezTo>
                      <a:pt x="745" y="1305"/>
                      <a:pt x="777" y="1299"/>
                      <a:pt x="810" y="1292"/>
                    </a:cubicBezTo>
                    <a:cubicBezTo>
                      <a:pt x="827" y="1288"/>
                      <a:pt x="843" y="1285"/>
                      <a:pt x="860" y="1280"/>
                    </a:cubicBezTo>
                    <a:cubicBezTo>
                      <a:pt x="888" y="1271"/>
                      <a:pt x="914" y="1257"/>
                      <a:pt x="941" y="1243"/>
                    </a:cubicBezTo>
                    <a:cubicBezTo>
                      <a:pt x="960" y="1232"/>
                      <a:pt x="981" y="1225"/>
                      <a:pt x="998" y="1210"/>
                    </a:cubicBezTo>
                    <a:cubicBezTo>
                      <a:pt x="1033" y="1177"/>
                      <a:pt x="1071" y="1147"/>
                      <a:pt x="1104" y="1112"/>
                    </a:cubicBezTo>
                    <a:cubicBezTo>
                      <a:pt x="1130" y="1085"/>
                      <a:pt x="1153" y="1055"/>
                      <a:pt x="1173" y="1024"/>
                    </a:cubicBezTo>
                    <a:cubicBezTo>
                      <a:pt x="1194" y="989"/>
                      <a:pt x="1215" y="953"/>
                      <a:pt x="1234" y="916"/>
                    </a:cubicBezTo>
                    <a:cubicBezTo>
                      <a:pt x="1250" y="888"/>
                      <a:pt x="1262" y="859"/>
                      <a:pt x="1264" y="826"/>
                    </a:cubicBezTo>
                    <a:cubicBezTo>
                      <a:pt x="1265" y="809"/>
                      <a:pt x="1272" y="803"/>
                      <a:pt x="1289" y="802"/>
                    </a:cubicBezTo>
                    <a:cubicBezTo>
                      <a:pt x="1303" y="800"/>
                      <a:pt x="1315" y="788"/>
                      <a:pt x="1318" y="771"/>
                    </a:cubicBezTo>
                    <a:cubicBezTo>
                      <a:pt x="1321" y="757"/>
                      <a:pt x="1312" y="751"/>
                      <a:pt x="1301" y="747"/>
                    </a:cubicBezTo>
                    <a:close/>
                    <a:moveTo>
                      <a:pt x="1215" y="752"/>
                    </a:moveTo>
                    <a:cubicBezTo>
                      <a:pt x="1213" y="771"/>
                      <a:pt x="1210" y="788"/>
                      <a:pt x="1201" y="804"/>
                    </a:cubicBezTo>
                    <a:cubicBezTo>
                      <a:pt x="1194" y="814"/>
                      <a:pt x="1187" y="825"/>
                      <a:pt x="1179" y="835"/>
                    </a:cubicBezTo>
                    <a:cubicBezTo>
                      <a:pt x="1174" y="840"/>
                      <a:pt x="1167" y="846"/>
                      <a:pt x="1158" y="844"/>
                    </a:cubicBezTo>
                    <a:cubicBezTo>
                      <a:pt x="1148" y="841"/>
                      <a:pt x="1148" y="853"/>
                      <a:pt x="1141" y="855"/>
                    </a:cubicBezTo>
                    <a:cubicBezTo>
                      <a:pt x="1128" y="859"/>
                      <a:pt x="1116" y="866"/>
                      <a:pt x="1103" y="868"/>
                    </a:cubicBezTo>
                    <a:cubicBezTo>
                      <a:pt x="1099" y="869"/>
                      <a:pt x="1093" y="869"/>
                      <a:pt x="1094" y="875"/>
                    </a:cubicBezTo>
                    <a:cubicBezTo>
                      <a:pt x="1096" y="880"/>
                      <a:pt x="1100" y="879"/>
                      <a:pt x="1104" y="879"/>
                    </a:cubicBezTo>
                    <a:cubicBezTo>
                      <a:pt x="1108" y="879"/>
                      <a:pt x="1113" y="879"/>
                      <a:pt x="1119" y="879"/>
                    </a:cubicBezTo>
                    <a:cubicBezTo>
                      <a:pt x="1114" y="889"/>
                      <a:pt x="1106" y="887"/>
                      <a:pt x="1101" y="892"/>
                    </a:cubicBezTo>
                    <a:cubicBezTo>
                      <a:pt x="1098" y="894"/>
                      <a:pt x="1095" y="896"/>
                      <a:pt x="1097" y="899"/>
                    </a:cubicBezTo>
                    <a:cubicBezTo>
                      <a:pt x="1098" y="902"/>
                      <a:pt x="1102" y="901"/>
                      <a:pt x="1104" y="899"/>
                    </a:cubicBezTo>
                    <a:cubicBezTo>
                      <a:pt x="1111" y="893"/>
                      <a:pt x="1114" y="895"/>
                      <a:pt x="1113" y="904"/>
                    </a:cubicBezTo>
                    <a:cubicBezTo>
                      <a:pt x="1112" y="910"/>
                      <a:pt x="1119" y="918"/>
                      <a:pt x="1105" y="921"/>
                    </a:cubicBezTo>
                    <a:cubicBezTo>
                      <a:pt x="1101" y="922"/>
                      <a:pt x="1099" y="937"/>
                      <a:pt x="1102" y="946"/>
                    </a:cubicBezTo>
                    <a:cubicBezTo>
                      <a:pt x="1108" y="961"/>
                      <a:pt x="1105" y="979"/>
                      <a:pt x="1112" y="994"/>
                    </a:cubicBezTo>
                    <a:cubicBezTo>
                      <a:pt x="1113" y="995"/>
                      <a:pt x="1112" y="997"/>
                      <a:pt x="1111" y="998"/>
                    </a:cubicBezTo>
                    <a:cubicBezTo>
                      <a:pt x="1107" y="1008"/>
                      <a:pt x="1104" y="1020"/>
                      <a:pt x="1097" y="1027"/>
                    </a:cubicBezTo>
                    <a:cubicBezTo>
                      <a:pt x="1066" y="1054"/>
                      <a:pt x="1039" y="1087"/>
                      <a:pt x="1007" y="1113"/>
                    </a:cubicBezTo>
                    <a:cubicBezTo>
                      <a:pt x="959" y="1152"/>
                      <a:pt x="905" y="1177"/>
                      <a:pt x="848" y="1198"/>
                    </a:cubicBezTo>
                    <a:cubicBezTo>
                      <a:pt x="806" y="1213"/>
                      <a:pt x="764" y="1225"/>
                      <a:pt x="719" y="1229"/>
                    </a:cubicBezTo>
                    <a:cubicBezTo>
                      <a:pt x="687" y="1232"/>
                      <a:pt x="657" y="1245"/>
                      <a:pt x="624" y="1244"/>
                    </a:cubicBezTo>
                    <a:cubicBezTo>
                      <a:pt x="607" y="1243"/>
                      <a:pt x="591" y="1241"/>
                      <a:pt x="575" y="1237"/>
                    </a:cubicBezTo>
                    <a:cubicBezTo>
                      <a:pt x="543" y="1229"/>
                      <a:pt x="510" y="1222"/>
                      <a:pt x="478" y="1212"/>
                    </a:cubicBezTo>
                    <a:cubicBezTo>
                      <a:pt x="452" y="1205"/>
                      <a:pt x="427" y="1194"/>
                      <a:pt x="403" y="1178"/>
                    </a:cubicBezTo>
                    <a:cubicBezTo>
                      <a:pt x="385" y="1165"/>
                      <a:pt x="365" y="1154"/>
                      <a:pt x="345" y="1143"/>
                    </a:cubicBezTo>
                    <a:cubicBezTo>
                      <a:pt x="315" y="1126"/>
                      <a:pt x="287" y="1106"/>
                      <a:pt x="260" y="1085"/>
                    </a:cubicBezTo>
                    <a:cubicBezTo>
                      <a:pt x="237" y="1066"/>
                      <a:pt x="214" y="1045"/>
                      <a:pt x="194" y="1023"/>
                    </a:cubicBezTo>
                    <a:cubicBezTo>
                      <a:pt x="178" y="1005"/>
                      <a:pt x="165" y="985"/>
                      <a:pt x="147" y="968"/>
                    </a:cubicBezTo>
                    <a:cubicBezTo>
                      <a:pt x="139" y="962"/>
                      <a:pt x="144" y="950"/>
                      <a:pt x="142" y="941"/>
                    </a:cubicBezTo>
                    <a:cubicBezTo>
                      <a:pt x="138" y="928"/>
                      <a:pt x="133" y="916"/>
                      <a:pt x="125" y="906"/>
                    </a:cubicBezTo>
                    <a:cubicBezTo>
                      <a:pt x="104" y="879"/>
                      <a:pt x="99" y="848"/>
                      <a:pt x="94" y="816"/>
                    </a:cubicBezTo>
                    <a:cubicBezTo>
                      <a:pt x="90" y="790"/>
                      <a:pt x="84" y="764"/>
                      <a:pt x="80" y="738"/>
                    </a:cubicBezTo>
                    <a:cubicBezTo>
                      <a:pt x="76" y="719"/>
                      <a:pt x="78" y="701"/>
                      <a:pt x="79" y="682"/>
                    </a:cubicBezTo>
                    <a:cubicBezTo>
                      <a:pt x="81" y="662"/>
                      <a:pt x="82" y="643"/>
                      <a:pt x="81" y="623"/>
                    </a:cubicBezTo>
                    <a:cubicBezTo>
                      <a:pt x="80" y="598"/>
                      <a:pt x="82" y="574"/>
                      <a:pt x="92" y="550"/>
                    </a:cubicBezTo>
                    <a:cubicBezTo>
                      <a:pt x="103" y="524"/>
                      <a:pt x="110" y="496"/>
                      <a:pt x="118" y="470"/>
                    </a:cubicBezTo>
                    <a:cubicBezTo>
                      <a:pt x="127" y="444"/>
                      <a:pt x="138" y="419"/>
                      <a:pt x="154" y="396"/>
                    </a:cubicBezTo>
                    <a:cubicBezTo>
                      <a:pt x="169" y="375"/>
                      <a:pt x="177" y="349"/>
                      <a:pt x="187" y="326"/>
                    </a:cubicBezTo>
                    <a:cubicBezTo>
                      <a:pt x="200" y="293"/>
                      <a:pt x="223" y="266"/>
                      <a:pt x="251" y="246"/>
                    </a:cubicBezTo>
                    <a:cubicBezTo>
                      <a:pt x="272" y="230"/>
                      <a:pt x="290" y="210"/>
                      <a:pt x="313" y="198"/>
                    </a:cubicBezTo>
                    <a:cubicBezTo>
                      <a:pt x="332" y="188"/>
                      <a:pt x="352" y="183"/>
                      <a:pt x="371" y="176"/>
                    </a:cubicBezTo>
                    <a:cubicBezTo>
                      <a:pt x="394" y="167"/>
                      <a:pt x="415" y="152"/>
                      <a:pt x="438" y="142"/>
                    </a:cubicBezTo>
                    <a:cubicBezTo>
                      <a:pt x="473" y="128"/>
                      <a:pt x="507" y="112"/>
                      <a:pt x="546" y="107"/>
                    </a:cubicBezTo>
                    <a:cubicBezTo>
                      <a:pt x="591" y="101"/>
                      <a:pt x="636" y="98"/>
                      <a:pt x="681" y="102"/>
                    </a:cubicBezTo>
                    <a:cubicBezTo>
                      <a:pt x="701" y="104"/>
                      <a:pt x="720" y="111"/>
                      <a:pt x="739" y="116"/>
                    </a:cubicBezTo>
                    <a:cubicBezTo>
                      <a:pt x="755" y="119"/>
                      <a:pt x="771" y="124"/>
                      <a:pt x="786" y="128"/>
                    </a:cubicBezTo>
                    <a:cubicBezTo>
                      <a:pt x="799" y="131"/>
                      <a:pt x="809" y="138"/>
                      <a:pt x="822" y="141"/>
                    </a:cubicBezTo>
                    <a:cubicBezTo>
                      <a:pt x="849" y="145"/>
                      <a:pt x="875" y="156"/>
                      <a:pt x="900" y="167"/>
                    </a:cubicBezTo>
                    <a:cubicBezTo>
                      <a:pt x="924" y="177"/>
                      <a:pt x="944" y="193"/>
                      <a:pt x="965" y="206"/>
                    </a:cubicBezTo>
                    <a:cubicBezTo>
                      <a:pt x="1010" y="233"/>
                      <a:pt x="1051" y="266"/>
                      <a:pt x="1082" y="310"/>
                    </a:cubicBezTo>
                    <a:cubicBezTo>
                      <a:pt x="1114" y="356"/>
                      <a:pt x="1145" y="403"/>
                      <a:pt x="1167" y="454"/>
                    </a:cubicBezTo>
                    <a:cubicBezTo>
                      <a:pt x="1182" y="491"/>
                      <a:pt x="1195" y="529"/>
                      <a:pt x="1202" y="569"/>
                    </a:cubicBezTo>
                    <a:cubicBezTo>
                      <a:pt x="1206" y="594"/>
                      <a:pt x="1214" y="620"/>
                      <a:pt x="1216" y="645"/>
                    </a:cubicBezTo>
                    <a:cubicBezTo>
                      <a:pt x="1218" y="681"/>
                      <a:pt x="1221" y="716"/>
                      <a:pt x="1215" y="752"/>
                    </a:cubicBezTo>
                    <a:close/>
                  </a:path>
                </a:pathLst>
              </a:custGeom>
              <a:solidFill>
                <a:srgbClr val="103D7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verage"/>
                <a:ea typeface="Average"/>
                <a:cs typeface="Average"/>
              </a:rPr>
              <a:t>BIO服务器代码示例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87c558-77a2-4771-a219-52a8175e618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2875141" y="1317063"/>
              <a:ext cx="6135509" cy="0"/>
            </a:xfrm>
            <a:prstGeom prst="line">
              <a:avLst/>
            </a:prstGeom>
            <a:ln w="1270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2676602" y="1317063"/>
              <a:ext cx="198539" cy="209225"/>
            </a:xfrm>
            <a:prstGeom prst="line">
              <a:avLst/>
            </a:prstGeom>
            <a:ln w="1270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6448" y="1527929"/>
              <a:ext cx="1860154" cy="0"/>
            </a:xfrm>
            <a:prstGeom prst="line">
              <a:avLst/>
            </a:prstGeom>
            <a:ln w="1270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660400" y="1449905"/>
              <a:ext cx="156048" cy="156048"/>
            </a:xfrm>
            <a:prstGeom prst="rect">
              <a:avLst/>
            </a:prstGeom>
            <a:solidFill>
              <a:srgbClr val="103D7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10649" y="1130300"/>
              <a:ext cx="2508251" cy="1719920"/>
            </a:xfrm>
            <a:prstGeom prst="rect">
              <a:avLst/>
            </a:prstGeom>
            <a:solidFill>
              <a:srgbClr val="103D7E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基于Selector的事件驱动编程模型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660400" y="1792083"/>
              <a:ext cx="3943350" cy="1965960"/>
              <a:chOff x="660400" y="1792083"/>
              <a:chExt cx="3943350" cy="196596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074321" y="2226095"/>
                <a:ext cx="3529429" cy="15319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打开ServerSocketChannel并绑定端口，设置为非阻塞模式。创建Selector，并将ServerSocketChannel注册到其上，关注OP_ACCEPT事件。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74321" y="1792083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初始化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0400" y="1792083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60400" y="4168141"/>
              <a:ext cx="3943350" cy="1965959"/>
              <a:chOff x="660400" y="4168141"/>
              <a:chExt cx="3943350" cy="1965959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074321" y="4602152"/>
                <a:ext cx="3529429" cy="15319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进入无限循环，调用selector.select()方法阻塞等待事件。获取就绪的SelectionKey集合并进行遍历。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74321" y="4168141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事件循环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0400" y="4168141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835525" y="1792083"/>
              <a:ext cx="3943350" cy="1965960"/>
              <a:chOff x="4835525" y="1792083"/>
              <a:chExt cx="3943350" cy="196596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249446" y="2226095"/>
                <a:ext cx="3529429" cy="15319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根据不同的事件类型（OP_ACCEPT、OP_READ、OP_WRITE）进行相应处理。连接就绪时接收客户端SocketChannel并注册读事件；读就绪时通过Buffer读取数据并注册写事件；写就绪时通过Buffer发送数据并重置为读事件。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249446" y="1792083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事件处理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835525" y="1792083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835525" y="4168141"/>
              <a:ext cx="3943350" cy="1965959"/>
              <a:chOff x="4835525" y="4168141"/>
              <a:chExt cx="3943350" cy="19659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249446" y="4602152"/>
                <a:ext cx="3529429" cy="15319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`while (true) { int readyChannels = selector.select(); Set&lt;SelectionKey&gt; selectionKeys = selector.selectedKeys(); Iterator&lt;SelectionKey&gt; iterator = selectionKeys.iterator(); while (iterator.hasNext()) { SelectionKey key = iterator.next(); iterator.remove(); if (key.isAcceptable()) { handleAccept(key, selector); } else if (key.isReadable()) { handleRead(key); } else if (key.isWritable()) { handleWrite(key); } } }`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249446" y="4168141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关键代码片段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835525" y="4168141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verage"/>
                <a:ea typeface="Average"/>
                <a:cs typeface="Average"/>
              </a:rPr>
              <a:t>NIO服务器代码示例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cc176ec-2ed2-461c-80de-1ceab374a9b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130301"/>
            <a:ext cx="11531600" cy="5003799"/>
            <a:chOff x="0" y="1130301"/>
            <a:chExt cx="11531600" cy="5003799"/>
          </a:xfrm>
        </p:grpSpPr>
        <p:sp>
          <p:nvSpPr>
            <p:cNvPr id="4" name="AutoShape 4"/>
            <p:cNvSpPr/>
            <p:nvPr/>
          </p:nvSpPr>
          <p:spPr>
            <a:xfrm flipH="1">
              <a:off x="0" y="1835072"/>
              <a:ext cx="10614452" cy="0"/>
            </a:xfrm>
            <a:prstGeom prst="line">
              <a:avLst/>
            </a:prstGeom>
            <a:ln w="1270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 flipV="1">
              <a:off x="10614452" y="1835072"/>
              <a:ext cx="147995" cy="154422"/>
            </a:xfrm>
            <a:prstGeom prst="line">
              <a:avLst/>
            </a:prstGeom>
            <a:ln w="1270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0762447" y="1989494"/>
              <a:ext cx="611725" cy="0"/>
            </a:xfrm>
            <a:prstGeom prst="line">
              <a:avLst/>
            </a:prstGeom>
            <a:ln w="1270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1376844" y="1912116"/>
              <a:ext cx="154756" cy="154756"/>
            </a:xfrm>
            <a:prstGeom prst="rect">
              <a:avLst/>
            </a:prstGeom>
            <a:solidFill>
              <a:srgbClr val="103D7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0399" y="1130301"/>
              <a:ext cx="10858500" cy="62487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基于异步回调的编程模型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660400" y="2146438"/>
              <a:ext cx="5338679" cy="1228309"/>
              <a:chOff x="660400" y="2146438"/>
              <a:chExt cx="5338679" cy="122830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074321" y="2545030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打开AsynchronousServerSocketChannel并绑定端口。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74321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启动服务器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0400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60400" y="3526115"/>
              <a:ext cx="5338679" cy="1228308"/>
              <a:chOff x="660400" y="3526115"/>
              <a:chExt cx="5338679" cy="122830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074321" y="3924706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调用accept()方法异步等待连接，并传入一个AcceptCompletionHandler作为回调。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74321" y="3526115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异步监听连接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0400" y="3526115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60400" y="4905791"/>
              <a:ext cx="5338680" cy="1228309"/>
              <a:chOff x="660400" y="4905791"/>
              <a:chExt cx="5338680" cy="122830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074321" y="5304383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在AcceptCompletionHandler的completed()方法中，继续调用accept()方法监听新连接，并通过调用read()方法异步读取客户端数据，传入ReadCompletionHandler作为读操作的回调。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74322" y="4905791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处理连接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0400" y="4905791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180221" y="2146438"/>
              <a:ext cx="5338679" cy="1228309"/>
              <a:chOff x="6180221" y="2146438"/>
              <a:chExt cx="5338679" cy="122830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4142" y="2545030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在ReadCompletionHandler的completed()方法中处理读取到的数据，并通过调用write()方法异步发送响应，传入WriteCompletionHandler作为写操作的回调。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94142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处理读写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80221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180221" y="3526115"/>
              <a:ext cx="5338679" cy="1228308"/>
              <a:chOff x="6180221" y="3526115"/>
              <a:chExt cx="5338679" cy="1228308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4142" y="3924706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`serverChannel.accept(null, new AcceptCompletionHandler(serverChannel)); ... public void completed(AsynchronousSocketChannel clientChannel, Void attachment) { serverChannel.accept(null, this); clientChannel.read(buffer, buffer, new ReadCompletionHandler(clientChannel)); }`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94142" y="3526115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关键代码片段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180221" y="3526115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Average"/>
                <a:ea typeface="Average"/>
                <a:cs typeface="Average"/>
              </a:rPr>
              <a:t>AIO服务器代码示例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18409" y="3143111"/>
            <a:ext cx="6331821" cy="7694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0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实验内容与步骤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918409" y="4499863"/>
            <a:ext cx="6331822" cy="4478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200" b="0" i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详细指导实验的四个模块，包括BIO、NIO、AIO模型的实现思路与具体实验步骤，以及如何利用JMeter进行性能测试与对比分析。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dd6fdff-66cd-495a-96d6-a4fd6a7a83c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1" cy="5727700"/>
            <a:chOff x="660399" y="1130300"/>
            <a:chExt cx="10858501" cy="5727700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1" cy="84001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实现一个简单的BIO Echo服务器并进行测试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399" y="2796796"/>
              <a:ext cx="4937911" cy="3337305"/>
              <a:chOff x="5791200" y="543560"/>
              <a:chExt cx="2824480" cy="333730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791200" y="1172635"/>
                <a:ext cx="2824480" cy="68314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实现思路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791200" y="1855777"/>
                <a:ext cx="2824480" cy="2025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服务器端单线程监听端口，每接收一个客户端连接，就创建一个新的线程来处理该客户端的读写操作，避免主线程阻塞。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791200" y="543560"/>
                <a:ext cx="604191" cy="6290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9" name="AutoShape 9"/>
            <p:cNvSpPr/>
            <p:nvPr/>
          </p:nvSpPr>
          <p:spPr>
            <a:xfrm>
              <a:off x="6010729" y="2419109"/>
              <a:ext cx="5508171" cy="4438891"/>
            </a:xfrm>
            <a:custGeom>
              <a:avLst/>
              <a:gdLst/>
              <a:ahLst/>
              <a:cxnLst/>
              <a:rect l="l" t="t" r="r" b="b"/>
              <a:pathLst>
                <a:path w="5508171" h="4438891">
                  <a:moveTo>
                    <a:pt x="433680" y="0"/>
                  </a:moveTo>
                  <a:lnTo>
                    <a:pt x="5074491" y="0"/>
                  </a:lnTo>
                  <a:cubicBezTo>
                    <a:pt x="5314006" y="0"/>
                    <a:pt x="5508171" y="194165"/>
                    <a:pt x="5508171" y="433680"/>
                  </a:cubicBezTo>
                  <a:lnTo>
                    <a:pt x="5508171" y="4438891"/>
                  </a:lnTo>
                  <a:lnTo>
                    <a:pt x="0" y="4438891"/>
                  </a:lnTo>
                  <a:lnTo>
                    <a:pt x="0" y="433680"/>
                  </a:lnTo>
                  <a:cubicBezTo>
                    <a:pt x="0" y="194165"/>
                    <a:pt x="194165" y="0"/>
                    <a:pt x="43368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295863" y="2796796"/>
              <a:ext cx="4937910" cy="3337305"/>
              <a:chOff x="5829616" y="543560"/>
              <a:chExt cx="2101041" cy="333730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829616" y="1172635"/>
                <a:ext cx="2101041" cy="68314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实验步骤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829616" y="1855777"/>
                <a:ext cx="2101041" cy="2025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创建Java项目并新建bio包；编写BIO服务器代码，启动ServerSocket，循环调用accept()，并为每个客户端创建新线程处理读写；编写BIO客户端代码，通过Socket连接服务器并发送接收数据；启动服务器和客户端进行功能测试；使用Wireshark抓包分析网络交互过程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829616" y="543560"/>
                <a:ext cx="604191" cy="6290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模块一：BIO实现与测试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348004e-54f1-4031-a734-3b6d6801ea3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4" name="AutoShape 4"/>
            <p:cNvSpPr/>
            <p:nvPr/>
          </p:nvSpPr>
          <p:spPr>
            <a:xfrm>
              <a:off x="0" y="6692900"/>
              <a:ext cx="12192000" cy="1651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103D7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实现一个基于事件驱动的NIO Echo服务器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399" y="2586511"/>
              <a:ext cx="5027179" cy="3547589"/>
              <a:chOff x="660399" y="2586511"/>
              <a:chExt cx="5027179" cy="354758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399" y="3316762"/>
                <a:ext cx="502717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实现思路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399" y="3839006"/>
                <a:ext cx="5027179" cy="22950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服务器端单线程通过Selector同时管理多个Channel，根据不同的SelectionKey事件（连接就绪、读就绪、写就绪）来处理对应的客户端请求。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399" y="2586511"/>
                <a:ext cx="502717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491722" y="2586511"/>
              <a:ext cx="5027179" cy="3547589"/>
              <a:chOff x="6491722" y="2586511"/>
              <a:chExt cx="5027179" cy="354758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491722" y="3316762"/>
                <a:ext cx="502717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实验步骤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491722" y="3839006"/>
                <a:ext cx="5027179" cy="22950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创建nio包并编写NioEchoServer代码；打开ServerSocketChannel并绑定端口，设置为非阻塞模式，创建Selector并注册；编写事件处理逻辑，包括接收连接、读取数据和发送响应；启动NIO服务器，使用BIO客户端连接进行功能测试；通过JConsole对比BIO和NIO在相同并发下的线程数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491722" y="2586511"/>
                <a:ext cx="502717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模块二：NIO实现与测试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55df19-41fa-421b-9916-b63f0f3d54c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768350" y="2385060"/>
              <a:ext cx="10642600" cy="0"/>
            </a:xfrm>
            <a:prstGeom prst="line">
              <a:avLst/>
            </a:prstGeom>
            <a:ln w="6350">
              <a:solidFill>
                <a:srgbClr val="448B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673100" y="2621095"/>
              <a:ext cx="5105802" cy="3513005"/>
              <a:chOff x="673100" y="2229935"/>
              <a:chExt cx="5105802" cy="351300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654628" y="2990843"/>
                <a:ext cx="4124274" cy="27520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服务器端通过AsynchronousServerSocketChannel异步监听连接，并使用CompletionHandler回调处理连接、读、写事件；客户端也使用AsynchronousSocketChannel进行异步连接和读写。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654628" y="2229935"/>
                <a:ext cx="4124274" cy="760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实现思路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3100" y="2292351"/>
                <a:ext cx="981529" cy="10431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60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413098" y="2621095"/>
              <a:ext cx="5105802" cy="3513005"/>
              <a:chOff x="4393798" y="2229935"/>
              <a:chExt cx="5105802" cy="351300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375326" y="2990843"/>
                <a:ext cx="4124274" cy="27520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创建aio包并编写AioEchoServer和AioEchoClient代码；启动AIO服务器，调用accept()方法异步等待连接；客户端异步连接服务器并异步发送接收数据；启动服务器和客户端验证Echo功能，观察是否通过回调处理事件。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75326" y="2229935"/>
                <a:ext cx="4124274" cy="760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实验步骤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93798" y="2292351"/>
                <a:ext cx="981529" cy="10431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6000" b="1" i="0">
                    <a:ln/>
                    <a:solidFill>
                      <a:srgbClr val="103D7E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60400" y="1130300"/>
              <a:ext cx="10858500" cy="6275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实现一个完全异步的AIO Echo服务器与客户端</a:t>
              </a:r>
              <a:endParaRPr lang="en-US" sz="11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模块三：AIO实现与测试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29c02af-de1b-4487-a5cb-955ceb5cbfe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4" name="AutoShape 4"/>
            <p:cNvSpPr/>
            <p:nvPr/>
          </p:nvSpPr>
          <p:spPr>
            <a:xfrm>
              <a:off x="0" y="1130300"/>
              <a:ext cx="12192000" cy="5727700"/>
            </a:xfrm>
            <a:custGeom>
              <a:avLst/>
              <a:gdLst/>
              <a:ahLst/>
              <a:cxnLst/>
              <a:rect l="l" t="t" r="r" b="b"/>
              <a:pathLst>
                <a:path w="12192000" h="5829300">
                  <a:moveTo>
                    <a:pt x="0" y="0"/>
                  </a:moveTo>
                  <a:lnTo>
                    <a:pt x="12192000" y="0"/>
                  </a:lnTo>
                  <a:lnTo>
                    <a:pt x="12192000" y="5829300"/>
                  </a:lnTo>
                  <a:lnTo>
                    <a:pt x="0" y="5829300"/>
                  </a:lnTo>
                  <a:close/>
                </a:path>
              </a:pathLst>
            </a:custGeom>
            <a:solidFill>
              <a:srgbClr val="103D7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660399" y="2618075"/>
              <a:ext cx="3117253" cy="3516025"/>
              <a:chOff x="792401" y="2746662"/>
              <a:chExt cx="1785803" cy="351602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805208" y="2746662"/>
                <a:ext cx="1772996" cy="11048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8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2401" y="3851490"/>
                <a:ext cx="1772996" cy="7047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90000" rIns="91440" bIns="900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测试工具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92401" y="4556205"/>
                <a:ext cx="1772996" cy="1706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108000" rIns="108000" bIns="1080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使用Apache JMeter模拟不同并发数（如100、500、1000个客户端）的请求。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542200" y="2618075"/>
              <a:ext cx="3106074" cy="3516025"/>
              <a:chOff x="3030777" y="2746662"/>
              <a:chExt cx="1779399" cy="351602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030777" y="3851490"/>
                <a:ext cx="1772996" cy="7047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90000" rIns="91440" bIns="900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测试指标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030777" y="4556205"/>
                <a:ext cx="1772996" cy="1706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108000" rIns="108000" bIns="1080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记录三种模型服务器的吞吐量（单位时间内处理的请求数，req/s）、响应时间（客户端发送请求到接收响应的平均时间，ms）、CPU占用率峰值以及服务器线程数。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037180" y="2746662"/>
                <a:ext cx="1772996" cy="11048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8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423999" y="2618075"/>
              <a:ext cx="3094900" cy="3516025"/>
              <a:chOff x="5269151" y="2746662"/>
              <a:chExt cx="1772998" cy="351602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269153" y="3851490"/>
                <a:ext cx="1772996" cy="7047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90000" rIns="91440" bIns="900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实验步骤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269153" y="4556205"/>
                <a:ext cx="1772996" cy="1706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108000" tIns="108000" rIns="108000" bIns="1080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配置JMeter测试计划，设置并发数、循环次数、TCP取样器等；依次启动BIO、NIO、AIO服务器，运行JMeter测试并记录各项指标；将三种模型的测试数据填入表格进行对比。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269151" y="2746662"/>
                <a:ext cx="1772995" cy="11048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48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03.</a:t>
                </a:r>
                <a:endParaRPr lang="en-US" sz="1100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66750" y="1397978"/>
              <a:ext cx="10858500" cy="91028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使用JMeter对比三种模型的性能指标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 flipH="1">
              <a:off x="0" y="2453747"/>
              <a:ext cx="12192000" cy="0"/>
            </a:xfrm>
            <a:prstGeom prst="line">
              <a:avLst/>
            </a:prstGeom>
            <a:ln w="63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4148748" y="2453748"/>
              <a:ext cx="0" cy="4013198"/>
            </a:xfrm>
            <a:prstGeom prst="line">
              <a:avLst/>
            </a:prstGeom>
            <a:ln w="63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8030550" y="2453747"/>
              <a:ext cx="0" cy="4013198"/>
            </a:xfrm>
            <a:prstGeom prst="line">
              <a:avLst/>
            </a:prstGeom>
            <a:ln w="63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 flipH="1">
              <a:off x="3877686" y="2458514"/>
              <a:ext cx="271062" cy="261895"/>
            </a:xfrm>
            <a:custGeom>
              <a:avLst/>
              <a:gdLst/>
              <a:ahLst/>
              <a:cxnLst/>
              <a:rect l="l" t="t" r="r" b="b"/>
              <a:pathLst>
                <a:path w="271062" h="261895">
                  <a:moveTo>
                    <a:pt x="0" y="0"/>
                  </a:moveTo>
                  <a:lnTo>
                    <a:pt x="271062" y="0"/>
                  </a:lnTo>
                  <a:lnTo>
                    <a:pt x="230193" y="17129"/>
                  </a:lnTo>
                  <a:cubicBezTo>
                    <a:pt x="154921" y="54535"/>
                    <a:pt x="90514" y="110527"/>
                    <a:pt x="42978" y="179101"/>
                  </a:cubicBezTo>
                  <a:lnTo>
                    <a:pt x="0" y="2618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 flipH="1">
              <a:off x="7759488" y="2458514"/>
              <a:ext cx="271062" cy="261895"/>
            </a:xfrm>
            <a:custGeom>
              <a:avLst/>
              <a:gdLst/>
              <a:ahLst/>
              <a:cxnLst/>
              <a:rect l="l" t="t" r="r" b="b"/>
              <a:pathLst>
                <a:path w="271062" h="261895">
                  <a:moveTo>
                    <a:pt x="0" y="0"/>
                  </a:moveTo>
                  <a:lnTo>
                    <a:pt x="271062" y="0"/>
                  </a:lnTo>
                  <a:lnTo>
                    <a:pt x="230193" y="17129"/>
                  </a:lnTo>
                  <a:cubicBezTo>
                    <a:pt x="154921" y="54535"/>
                    <a:pt x="90514" y="110527"/>
                    <a:pt x="42978" y="179101"/>
                  </a:cubicBezTo>
                  <a:lnTo>
                    <a:pt x="0" y="2618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模块四：性能测试方案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18409" y="3143111"/>
            <a:ext cx="6331821" cy="7694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0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实验结果与分析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918409" y="4499863"/>
            <a:ext cx="6331822" cy="4478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200" b="0" i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展示BIO、NIO、AIO三种模型在功能测试和性能测试中的结果，并基于测试数据深入分析各自的性能瓶颈、优势场景及核心差异。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49f9d95-2294-4019-b9cb-ea934b2c20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1" cy="5003799"/>
            <a:chOff x="660399" y="1130300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0"/>
              <a:ext cx="10858500" cy="900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验证三种模型的Echo功能正确性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484572"/>
              <a:ext cx="3386981" cy="3649527"/>
              <a:chOff x="660400" y="2967172"/>
              <a:chExt cx="2520000" cy="3649527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732400" y="3728530"/>
                <a:ext cx="2376000" cy="180000"/>
                <a:chOff x="768401" y="3530630"/>
                <a:chExt cx="2376000" cy="180000"/>
              </a:xfrm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768401" y="3530630"/>
                  <a:ext cx="2376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AutoShape 8"/>
                <p:cNvSpPr/>
                <p:nvPr/>
              </p:nvSpPr>
              <p:spPr>
                <a:xfrm>
                  <a:off x="768401" y="3530630"/>
                  <a:ext cx="540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660400" y="4010024"/>
                <a:ext cx="2520000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单客户端连接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4694024"/>
                <a:ext cx="2520000" cy="19226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三种模型均能成功建立连接，并正确实现Echo响应功能。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2967172"/>
                <a:ext cx="2520000" cy="7085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96160" y="2484572"/>
              <a:ext cx="3386981" cy="3649527"/>
              <a:chOff x="660400" y="2967172"/>
              <a:chExt cx="2520000" cy="3649527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732400" y="3728530"/>
                <a:ext cx="2376000" cy="180000"/>
                <a:chOff x="768401" y="3530630"/>
                <a:chExt cx="2376000" cy="180000"/>
              </a:xfrm>
            </p:grpSpPr>
            <p:sp>
              <p:nvSpPr>
                <p:cNvPr id="14" name="AutoShape 14"/>
                <p:cNvSpPr/>
                <p:nvPr/>
              </p:nvSpPr>
              <p:spPr>
                <a:xfrm>
                  <a:off x="768401" y="3530630"/>
                  <a:ext cx="2376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768401" y="3530630"/>
                  <a:ext cx="900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660400" y="4010024"/>
                <a:ext cx="2520000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多客户端连接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60400" y="4694024"/>
                <a:ext cx="2520000" cy="19226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BIO模型为每个客户端创建一个线程进行处理；NIO模型使用单线程通过Selector管理所有连接；AIO模型通过异步回调处理所有连接。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0400" y="2967172"/>
                <a:ext cx="2520000" cy="7085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131919" y="2484572"/>
              <a:ext cx="3386981" cy="3649527"/>
              <a:chOff x="660400" y="2967172"/>
              <a:chExt cx="2520000" cy="3649527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32400" y="3728530"/>
                <a:ext cx="2376000" cy="180000"/>
                <a:chOff x="768401" y="3530630"/>
                <a:chExt cx="2376000" cy="180000"/>
              </a:xfrm>
            </p:grpSpPr>
            <p:sp>
              <p:nvSpPr>
                <p:cNvPr id="21" name="AutoShape 21"/>
                <p:cNvSpPr/>
                <p:nvPr/>
              </p:nvSpPr>
              <p:spPr>
                <a:xfrm>
                  <a:off x="768401" y="3530630"/>
                  <a:ext cx="2376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>
                    <a:alpha val="14901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768401" y="3530630"/>
                  <a:ext cx="1260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660400" y="4010024"/>
                <a:ext cx="2520000" cy="684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Echo响应正确性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0400" y="4694024"/>
                <a:ext cx="2520000" cy="19226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在多客户端并发连接的情况下，三种模型均能正确返回客户端的Echo响应。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0400" y="2967172"/>
                <a:ext cx="2520000" cy="7085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功能测试结果展示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e60176-7c1b-4149-8a44-57be68f1c0b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0" cy="5003801"/>
            <a:chOff x="660399" y="1130300"/>
            <a:chExt cx="10858500" cy="5003801"/>
          </a:xfrm>
        </p:grpSpPr>
        <p:sp>
          <p:nvSpPr>
            <p:cNvPr id="4" name="AutoShape 4"/>
            <p:cNvSpPr/>
            <p:nvPr/>
          </p:nvSpPr>
          <p:spPr>
            <a:xfrm>
              <a:off x="1231177" y="2197102"/>
              <a:ext cx="7065800" cy="0"/>
            </a:xfrm>
            <a:prstGeom prst="line">
              <a:avLst/>
            </a:prstGeom>
            <a:ln w="6350">
              <a:solidFill>
                <a:srgbClr val="103D7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399" y="2616205"/>
              <a:ext cx="10858500" cy="3517896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103D7E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 flipH="1">
              <a:off x="660399" y="1130300"/>
              <a:ext cx="10858500" cy="6476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不同并发数下的关键指标对比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7171" y="2003252"/>
              <a:ext cx="3389721" cy="4056788"/>
              <a:chOff x="747171" y="2003252"/>
              <a:chExt cx="3389721" cy="405678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843477" y="2003252"/>
                <a:ext cx="387700" cy="387700"/>
              </a:xfrm>
              <a:prstGeom prst="rect">
                <a:avLst/>
              </a:prstGeom>
              <a:solidFill>
                <a:srgbClr val="103D7E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7171" y="2738762"/>
                <a:ext cx="3389721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并发数100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8697" y="4044710"/>
                <a:ext cx="338325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在此低并发场景下，BIO的线程数最多（约105个），CPU占用率最高（60%）；NIO和AIO的线程数均为2个，但AIO的吞吐量（140 req/s）和响应时间（45ms）略优于NIO。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398133" y="2003252"/>
              <a:ext cx="3389721" cy="4056788"/>
              <a:chOff x="4398133" y="2003252"/>
              <a:chExt cx="3389721" cy="405678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494439" y="2003252"/>
                <a:ext cx="387700" cy="387700"/>
              </a:xfrm>
              <a:prstGeom prst="rect">
                <a:avLst/>
              </a:prstGeom>
              <a:solidFill>
                <a:srgbClr val="103D7E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398133" y="2738762"/>
                <a:ext cx="3389721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并发数500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99659" y="4044710"/>
                <a:ext cx="338325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随着并发数增加，BIO的性能急剧下降，CPU接近满载（90%），响应时间达到500ms；NIO和AIO的性能表现稳定，NIO的CPU占用率为50%，AIO为40%。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049095" y="2003252"/>
              <a:ext cx="3389721" cy="4056788"/>
              <a:chOff x="8049095" y="2003252"/>
              <a:chExt cx="3389721" cy="405678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145401" y="2003252"/>
                <a:ext cx="387700" cy="387700"/>
              </a:xfrm>
              <a:prstGeom prst="rect">
                <a:avLst/>
              </a:prstGeom>
              <a:solidFill>
                <a:srgbClr val="103D7E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49095" y="2738762"/>
                <a:ext cx="3389721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并发数1000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50621" y="4044710"/>
                <a:ext cx="338325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此时BIO服务器已经不堪重负，CPU满载（100%），部分请求超时，响应时间高达1200ms；NIO和AIO仍能稳定处理请求，AIO的吞吐量（450 req/s）和响应时间（120ms）依然是三者中最好的。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性能测试结果展示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e14a81-d566-4c93-9f74-4a49dbe105a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1" cy="4988460"/>
            <a:chOff x="660399" y="1130300"/>
            <a:chExt cx="10858501" cy="4988460"/>
          </a:xfrm>
        </p:grpSpPr>
        <p:sp>
          <p:nvSpPr>
            <p:cNvPr id="4" name="TextBox 4"/>
            <p:cNvSpPr txBox="1"/>
            <p:nvPr/>
          </p:nvSpPr>
          <p:spPr>
            <a:xfrm>
              <a:off x="679450" y="1130300"/>
              <a:ext cx="10833100" cy="10202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深入剖析三种模型的核心优劣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399" y="2272165"/>
              <a:ext cx="3233051" cy="3841933"/>
              <a:chOff x="660400" y="2272165"/>
              <a:chExt cx="2041331" cy="3841933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103D7E">
                      <a:alpha val="100000"/>
                    </a:srgbClr>
                  </a:gs>
                  <a:gs pos="100000">
                    <a:srgbClr val="104FB9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60400" y="2272165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103D7E">
                            <a:alpha val="100000"/>
                          </a:srgbClr>
                        </a:gs>
                        <a:gs pos="100000">
                          <a:srgbClr val="104FB9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BIO性能瓶颈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73100" y="4404828"/>
                <a:ext cx="2028631" cy="1709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每个客户端对应一个线程，高并发时线程数爆炸，导致线程上下文切换开销剧增，CPU资源被耗尽，响应时间大幅增加甚至超时。适用于连接数少（&lt;100）、数据交互频繁的场景。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73124" y="2291056"/>
              <a:ext cx="3233051" cy="3819916"/>
              <a:chOff x="2864693" y="2291056"/>
              <a:chExt cx="2041331" cy="381991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103D7E">
                      <a:alpha val="100000"/>
                    </a:srgbClr>
                  </a:gs>
                  <a:gs pos="100000">
                    <a:srgbClr val="104FB9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NIO性能优势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64693" y="229105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103D7E">
                            <a:alpha val="100000"/>
                          </a:srgbClr>
                        </a:gs>
                        <a:gs pos="100000">
                          <a:srgbClr val="104FB9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单线程可管理多个连接，线程数恒定，不受并发数影响，因此CPU占用率低，吞吐量显著高于BIO。适用于连接数多（&gt;1000）但数据交互不频繁的场景，如聊天服务器。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285849" y="2304006"/>
              <a:ext cx="3233051" cy="3814754"/>
              <a:chOff x="5068985" y="2304006"/>
              <a:chExt cx="2041331" cy="3814754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5068985" y="3419928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103D7E">
                      <a:alpha val="100000"/>
                    </a:srgbClr>
                  </a:gs>
                  <a:gs pos="100000">
                    <a:srgbClr val="104FB9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068985" y="358385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AIO性能最优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068985" y="230400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103D7E">
                            <a:alpha val="100000"/>
                          </a:srgbClr>
                        </a:gs>
                        <a:gs pos="100000">
                          <a:srgbClr val="104FB9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68985" y="439349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异步回调机制减少了进程主动轮询的开销，在操作系统支持良好的情况下，吞吐量和响应时间略优于NIO。适用于高并发且数据处理耗时的场景，如文件服务器。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性能瓶颈与优势分析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8759a7f-0abd-4e9d-8ac0-5bc5ea77bb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4154828"/>
            <a:chOff x="660400" y="1130300"/>
            <a:chExt cx="10858500" cy="4154828"/>
          </a:xfrm>
        </p:grpSpPr>
        <p:grpSp>
          <p:nvGrpSpPr>
            <p:cNvPr id="4" name="Group 4"/>
            <p:cNvGrpSpPr/>
            <p:nvPr/>
          </p:nvGrpSpPr>
          <p:grpSpPr>
            <a:xfrm>
              <a:off x="673100" y="2372812"/>
              <a:ext cx="3458593" cy="2912316"/>
              <a:chOff x="673100" y="2700020"/>
              <a:chExt cx="3458593" cy="1864359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3100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03918" y="2867659"/>
                <a:ext cx="2449827" cy="41783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线程模型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03918" y="3285497"/>
                <a:ext cx="2449827" cy="9486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BIO是多线程（每客户端一个线程）；NIO是单线程或多线程（Selector）；AIO是无线程阻塞或回调线程。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328953" y="3828068"/>
                <a:ext cx="802740" cy="5470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3328953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4366703" y="2372812"/>
              <a:ext cx="3458593" cy="2912316"/>
              <a:chOff x="4366703" y="2700020"/>
              <a:chExt cx="3458593" cy="1864359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366703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4497521" y="2867659"/>
                <a:ext cx="3327775" cy="1507501"/>
                <a:chOff x="4497521" y="2331720"/>
                <a:chExt cx="3327775" cy="1507501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4497521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数据读写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4497521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verage"/>
                      <a:ea typeface="Average"/>
                      <a:cs typeface="Average"/>
                    </a:rPr>
                    <a:t>BIO和NIO是同步的，需要进程主动发起读写操作；AIO是异步的，由操作系统完成读写后通知进程。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022556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6" name="AutoShape 16"/>
              <p:cNvSpPr/>
              <p:nvPr/>
            </p:nvSpPr>
            <p:spPr>
              <a:xfrm>
                <a:off x="7022556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8060306" y="2372812"/>
              <a:ext cx="3458593" cy="2912316"/>
              <a:chOff x="8060306" y="2164081"/>
              <a:chExt cx="3458593" cy="1864359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8060306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8191124" y="2331720"/>
                <a:ext cx="3327775" cy="1507501"/>
                <a:chOff x="8191124" y="2331720"/>
                <a:chExt cx="3327775" cy="1507501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8191124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汉仪行楷简"/>
                      <a:ea typeface="汉仪行楷简"/>
                      <a:cs typeface="汉仪行楷简"/>
                    </a:rPr>
                    <a:t>适用场景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191124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verage"/>
                      <a:ea typeface="Average"/>
                      <a:cs typeface="Average"/>
                    </a:rPr>
                    <a:t>BIO适用于低并发；NIO适用于高并发、低数据交互的场景；AIO适用于高并发、高数据处理的场景。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0716159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3" name="AutoShape 23"/>
              <p:cNvSpPr/>
              <p:nvPr/>
            </p:nvSpPr>
            <p:spPr>
              <a:xfrm>
                <a:off x="10716159" y="3839221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 flipH="1">
              <a:off x="660400" y="1130300"/>
              <a:ext cx="10858500" cy="84456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对比BIO、NIO、AIO的关键区别</a:t>
              </a:r>
              <a:endParaRPr lang="en-US" sz="11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核心差异总结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18409" y="3143111"/>
            <a:ext cx="6331821" cy="7694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0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思考题与注意事项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918409" y="4499863"/>
            <a:ext cx="6331822" cy="4478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200" b="0" i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提出一系列具有启发性的思考题，引导深入思考I/O模型的设计与优化，并列出实验过程中需要注意的常见问题，确保实验顺利进行。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ecf981-a2f3-4864-871c-024729b1881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1"/>
            <a:ext cx="10858500" cy="5397499"/>
            <a:chOff x="660400" y="1130301"/>
            <a:chExt cx="10858500" cy="53974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56629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深入探究I/O模型设计与优化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069065"/>
              <a:ext cx="2035235" cy="4458735"/>
              <a:chOff x="660400" y="2069065"/>
              <a:chExt cx="2035235" cy="445873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18762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对比BIO的“多线程”和NIO的“单线程Selector”，分析两者在内存占用、CPU利用率上的差异。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18762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线程与CPU利用率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3140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103D7E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866216" y="2069065"/>
              <a:ext cx="2035235" cy="4458735"/>
              <a:chOff x="2866216" y="2069065"/>
              <a:chExt cx="2035235" cy="445873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66216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924578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NIO的Selector为什么需要在处理完事件后“移除已选择的SelectionKey”（即iterator.remove()）？若不移除会导致什么问题？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24578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Selector事件处理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3517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103D7E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072032" y="2069065"/>
              <a:ext cx="2035235" cy="4458735"/>
              <a:chOff x="5072032" y="2069065"/>
              <a:chExt cx="2035235" cy="4458735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5072032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130394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AIO的“异步非阻塞”与NIO的“同步非阻塞”核心区别是什么？为什么AIO在Windows上的性能通常优于Linux？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30394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AIO与NIO核心区别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23894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103D7E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277849" y="2069065"/>
              <a:ext cx="2035235" cy="4458735"/>
              <a:chOff x="7277849" y="2069065"/>
              <a:chExt cx="2035235" cy="4458735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7277849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336211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实际项目中，若需开发一个支持10万并发连接的服务器，你会选择哪种I/O模型？为什么？可能需要结合哪些技术优化（如线程池、零拷贝）？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36211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十万并发选型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4271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103D7E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483665" y="2069065"/>
              <a:ext cx="2035235" cy="4458735"/>
              <a:chOff x="9483665" y="2069065"/>
              <a:chExt cx="2035235" cy="4458735"/>
            </a:xfrm>
          </p:grpSpPr>
          <p:sp>
            <p:nvSpPr>
              <p:cNvPr id="26" name="AutoShape 26"/>
              <p:cNvSpPr/>
              <p:nvPr/>
            </p:nvSpPr>
            <p:spPr>
              <a:xfrm>
                <a:off x="9483665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542027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尝试修改NIO服务器代码，将“单线程Selector”改为“多线程Selector”（如一个主线程处理连接事件，多个子线程处理读写事件），分析其对性能的影响。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42027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多线程Selector优化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46488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103D7E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思考题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56ab36-ad21-4b52-acc5-2f4f62c41ea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000000">
                    <a:alpha val="100000"/>
                    <a:tint val="75000"/>
                  </a:srgbClr>
                </a:solidFill>
                <a:latin typeface="Average"/>
                <a:ea typeface="Average"/>
                <a:cs typeface="Average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2"/>
            <a:ext cx="10858500" cy="5003799"/>
            <a:chOff x="660399" y="1130302"/>
            <a:chExt cx="10858500" cy="5003799"/>
          </a:xfrm>
        </p:grpSpPr>
        <p:sp>
          <p:nvSpPr>
            <p:cNvPr id="4" name="AutoShape 4"/>
            <p:cNvSpPr/>
            <p:nvPr/>
          </p:nvSpPr>
          <p:spPr>
            <a:xfrm>
              <a:off x="2877154" y="1879600"/>
              <a:ext cx="2139950" cy="4254500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103D7E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 flipH="1">
              <a:off x="660399" y="1130302"/>
              <a:ext cx="10858500" cy="550188"/>
            </a:xfrm>
            <a:prstGeom prst="rect">
              <a:avLst/>
            </a:prstGeom>
            <a:solidFill>
              <a:srgbClr val="103D7E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汉仪行楷简"/>
                  <a:ea typeface="汉仪行楷简"/>
                  <a:cs typeface="汉仪行楷简"/>
                </a:rPr>
                <a:t>避免常见错误，确保实验成功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795679" y="2078276"/>
              <a:ext cx="2009625" cy="4055825"/>
              <a:chOff x="795679" y="2078276"/>
              <a:chExt cx="2009625" cy="405582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103D7E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95679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端口占用问题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95679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三种模型需使用不同端口（如8888、8889、8890），避免端口冲突导致程序无法启动或连接失败。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942611" y="2078276"/>
              <a:ext cx="2009625" cy="4055825"/>
              <a:chOff x="2942611" y="2078276"/>
              <a:chExt cx="2009625" cy="405582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050528" y="2078276"/>
                <a:ext cx="381600" cy="382702"/>
              </a:xfrm>
              <a:prstGeom prst="rect">
                <a:avLst/>
              </a:prstGeom>
              <a:ln w="12700">
                <a:solidFill>
                  <a:srgbClr val="103D7E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942611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资源释放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42611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客户端或服务器关闭时，必须手动关闭Socket/Channel/Selector等资源，避免资源泄漏影响系统性能。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089543" y="2078276"/>
              <a:ext cx="2009625" cy="4055825"/>
              <a:chOff x="5089543" y="2078276"/>
              <a:chExt cx="2009625" cy="405582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197460" y="2078276"/>
                <a:ext cx="381600" cy="382702"/>
              </a:xfrm>
              <a:prstGeom prst="rect">
                <a:avLst/>
              </a:prstGeom>
              <a:ln w="12700">
                <a:solidFill>
                  <a:srgbClr val="103D7E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089543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非阻塞模式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89543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Average"/>
                    <a:ea typeface="Average"/>
                    <a:cs typeface="Average"/>
                  </a:rPr>
                  <a:t>NIO和AIO的Channel必须明确设置为非阻塞模式（configureBlocking(false)），否则在NIO中会抛出IllegalBlockingModeException异常。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236475" y="2078276"/>
              <a:ext cx="2009625" cy="4055825"/>
              <a:chOff x="7236475" y="2078276"/>
              <a:chExt cx="2009625" cy="4055825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344392" y="2078276"/>
                <a:ext cx="381600" cy="382702"/>
              </a:xfrm>
              <a:prstGeom prst="rect">
                <a:avLst/>
              </a:prstGeom>
              <a:ln w="12700">
                <a:solidFill>
                  <a:srgbClr val="103D7E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236475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性能测试环境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236475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进行性能测试时，应关闭其他占用CPU或网络资源的程序，以确保测试环境纯净，使结果具有可比性和可复现性。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383406" y="2078276"/>
              <a:ext cx="2009625" cy="4055825"/>
              <a:chOff x="9383406" y="2078276"/>
              <a:chExt cx="2009625" cy="4055825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491323" y="2078276"/>
                <a:ext cx="381600" cy="382702"/>
              </a:xfrm>
              <a:prstGeom prst="rect">
                <a:avLst/>
              </a:prstGeom>
              <a:ln w="12700">
                <a:solidFill>
                  <a:srgbClr val="103D7E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83406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汉仪行楷简"/>
                    <a:ea typeface="汉仪行楷简"/>
                    <a:cs typeface="汉仪行楷简"/>
                  </a:rPr>
                  <a:t>代码调试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3406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思源黑体 CN Regular"/>
                    <a:ea typeface="思源黑体 CN Regular"/>
                    <a:cs typeface="思源黑体 CN Regular"/>
                  </a:rPr>
                  <a:t>若出现“连接超时”或“无响应”等问题，可通过在代码中打印日志（如事件触发、数据读写字节数）来定位问题。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946206" y="298402"/>
            <a:ext cx="9947082" cy="67130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实验注意事项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9220" y="2855526"/>
            <a:ext cx="5705231" cy="9233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/>
                <a:solidFill>
                  <a:srgbClr val="000000">
                    <a:alpha val="100000"/>
                  </a:srgbClr>
                </a:solidFill>
                <a:latin typeface="汉仪行楷简"/>
                <a:ea typeface="汉仪行楷简"/>
                <a:cs typeface="汉仪行楷简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646580" y="4453658"/>
            <a:ext cx="1652310" cy="401386"/>
          </a:xfrm>
          <a:prstGeom prst="round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1" i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714026" y="4453658"/>
            <a:ext cx="1462503" cy="401386"/>
          </a:xfrm>
          <a:prstGeom prst="round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1" i="0">
                <a:ln/>
                <a:solidFill>
                  <a:srgbClr val="000000">
                    <a:alpha val="100000"/>
                  </a:srgbClr>
                </a:solidFill>
                <a:latin typeface="思源黑体 CN Regular"/>
                <a:ea typeface="思源黑体 CN Regular"/>
                <a:cs typeface="思源黑体 CN Regular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7</TotalTime>
  <Words>1684</Words>
  <Application>Microsoft Office PowerPoint</Application>
  <PresentationFormat>自定义</PresentationFormat>
  <Paragraphs>287</Paragraphs>
  <Slides>30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暗香扑面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A672</dc:creator>
  <cp:lastModifiedBy>A672</cp:lastModifiedBy>
  <cp:revision>4</cp:revision>
  <dcterms:created xsi:type="dcterms:W3CDTF">2006-08-16T00:00:00Z</dcterms:created>
  <dcterms:modified xsi:type="dcterms:W3CDTF">2026-05-05T14:11:35Z</dcterms:modified>
</cp:coreProperties>
</file>